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11172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085"/>
              </a:lnSpc>
            </a:pPr>
            <a:r>
              <a:rPr dirty="0"/>
              <a:t>© 2026 Infosys Limited. All rights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95A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11172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085"/>
              </a:lnSpc>
            </a:pPr>
            <a:r>
              <a:rPr dirty="0"/>
              <a:t>© 2026 Infosys Limited. All rights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95A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11172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085"/>
              </a:lnSpc>
            </a:pPr>
            <a:r>
              <a:rPr dirty="0"/>
              <a:t>© 2026 Infosys Limited. All rights </a:t>
            </a:r>
            <a:r>
              <a:rPr spc="-10" dirty="0"/>
              <a:t>reserved.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95A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11172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085"/>
              </a:lnSpc>
            </a:pPr>
            <a:r>
              <a:rPr dirty="0"/>
              <a:t>© 2026 Infosys Limited. All rights </a:t>
            </a:r>
            <a:r>
              <a:rPr spc="-10" dirty="0"/>
              <a:t>reserved.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95A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085"/>
              </a:lnSpc>
            </a:pPr>
            <a:r>
              <a:rPr dirty="0"/>
              <a:t>© 2026 Infosys Limited. All rights </a:t>
            </a:r>
            <a:r>
              <a:rPr spc="-10" dirty="0"/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95A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020899" y="9018986"/>
            <a:ext cx="1703719" cy="86414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861886" y="244678"/>
            <a:ext cx="1935006" cy="86000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56365" y="8799139"/>
            <a:ext cx="2257709" cy="12431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5651" y="252124"/>
            <a:ext cx="9789430" cy="10419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11172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21964" y="9604026"/>
            <a:ext cx="6548755" cy="408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085"/>
              </a:lnSpc>
            </a:pPr>
            <a:r>
              <a:rPr dirty="0"/>
              <a:t>© 2026 Infosys Limited. All rights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729548" y="9789062"/>
            <a:ext cx="17081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A95A2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21964" y="9571545"/>
            <a:ext cx="654875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Arial"/>
                <a:cs typeface="Arial"/>
              </a:rPr>
              <a:t>© 2026 Infosys Limited. All rights </a:t>
            </a:r>
            <a:r>
              <a:rPr sz="2700" spc="-10" dirty="0">
                <a:latin typeface="Arial"/>
                <a:cs typeface="Arial"/>
              </a:rPr>
              <a:t>reserved.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988189" y="2730328"/>
            <a:ext cx="612521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61970" algn="l"/>
              </a:tabLst>
            </a:pPr>
            <a:r>
              <a:rPr sz="9000" spc="-20" dirty="0">
                <a:solidFill>
                  <a:srgbClr val="000000"/>
                </a:solidFill>
                <a:latin typeface="Arial"/>
                <a:cs typeface="Arial"/>
              </a:rPr>
              <a:t>Qubit</a:t>
            </a:r>
            <a:r>
              <a:rPr sz="9000"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z="9000" spc="-10" dirty="0">
                <a:solidFill>
                  <a:srgbClr val="000000"/>
                </a:solidFill>
                <a:latin typeface="Arial"/>
                <a:cs typeface="Arial"/>
              </a:rPr>
              <a:t>Arena</a:t>
            </a:r>
            <a:endParaRPr sz="9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8189" y="4597228"/>
            <a:ext cx="7473950" cy="112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030"/>
              </a:lnSpc>
              <a:spcBef>
                <a:spcPts val="100"/>
              </a:spcBef>
              <a:tabLst>
                <a:tab pos="2354580" algn="l"/>
                <a:tab pos="4104004" algn="l"/>
                <a:tab pos="5763895" algn="l"/>
              </a:tabLst>
            </a:pPr>
            <a:r>
              <a:rPr sz="4200" spc="-10" dirty="0">
                <a:latin typeface="Arial"/>
                <a:cs typeface="Arial"/>
              </a:rPr>
              <a:t>Quantum</a:t>
            </a:r>
            <a:r>
              <a:rPr sz="4200" dirty="0">
                <a:latin typeface="Arial"/>
                <a:cs typeface="Arial"/>
              </a:rPr>
              <a:t>	</a:t>
            </a:r>
            <a:r>
              <a:rPr sz="4200" spc="-10" dirty="0">
                <a:latin typeface="Arial"/>
                <a:cs typeface="Arial"/>
              </a:rPr>
              <a:t>Puzzle</a:t>
            </a:r>
            <a:r>
              <a:rPr sz="4200" dirty="0">
                <a:latin typeface="Arial"/>
                <a:cs typeface="Arial"/>
              </a:rPr>
              <a:t>	</a:t>
            </a:r>
            <a:r>
              <a:rPr sz="4200" spc="-10" dirty="0">
                <a:latin typeface="Arial"/>
                <a:cs typeface="Arial"/>
              </a:rPr>
              <a:t>Solver</a:t>
            </a:r>
            <a:r>
              <a:rPr sz="4200" dirty="0">
                <a:latin typeface="Arial"/>
                <a:cs typeface="Arial"/>
              </a:rPr>
              <a:t>	</a:t>
            </a:r>
            <a:r>
              <a:rPr sz="4200" spc="-10" dirty="0">
                <a:latin typeface="Arial"/>
                <a:cs typeface="Arial"/>
              </a:rPr>
              <a:t>Arena</a:t>
            </a:r>
            <a:endParaRPr sz="4200">
              <a:latin typeface="Arial"/>
              <a:cs typeface="Arial"/>
            </a:endParaRPr>
          </a:p>
          <a:p>
            <a:pPr marL="12700">
              <a:lnSpc>
                <a:spcPts val="3595"/>
              </a:lnSpc>
              <a:tabLst>
                <a:tab pos="3528060" algn="l"/>
                <a:tab pos="3838575" algn="l"/>
              </a:tabLst>
            </a:pPr>
            <a:r>
              <a:rPr sz="3000" dirty="0">
                <a:latin typeface="Arial"/>
                <a:cs typeface="Arial"/>
              </a:rPr>
              <a:t>Hack-AI-Thon </a:t>
            </a:r>
            <a:r>
              <a:rPr sz="3000" spc="-20" dirty="0">
                <a:latin typeface="Arial"/>
                <a:cs typeface="Arial"/>
              </a:rPr>
              <a:t>2026</a:t>
            </a:r>
            <a:r>
              <a:rPr sz="3000" dirty="0">
                <a:latin typeface="Arial"/>
                <a:cs typeface="Arial"/>
              </a:rPr>
              <a:t>	</a:t>
            </a:r>
            <a:r>
              <a:rPr sz="3000" spc="-50" dirty="0">
                <a:latin typeface="Arial"/>
                <a:cs typeface="Arial"/>
              </a:rPr>
              <a:t>|</a:t>
            </a:r>
            <a:r>
              <a:rPr sz="3000" dirty="0">
                <a:latin typeface="Arial"/>
                <a:cs typeface="Arial"/>
              </a:rPr>
              <a:t>	Solution </a:t>
            </a:r>
            <a:r>
              <a:rPr sz="3000" spc="-10" dirty="0">
                <a:latin typeface="Arial"/>
                <a:cs typeface="Arial"/>
              </a:rPr>
              <a:t>Presentation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21964" y="9571545"/>
            <a:ext cx="654875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Arial"/>
                <a:cs typeface="Arial"/>
              </a:rPr>
              <a:t>© 2026 Infosys Limited. All rights </a:t>
            </a:r>
            <a:r>
              <a:rPr sz="2700" spc="-10" dirty="0">
                <a:latin typeface="Arial"/>
                <a:cs typeface="Arial"/>
              </a:rPr>
              <a:t>reserved.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7354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Team</a:t>
            </a:r>
            <a:r>
              <a:rPr spc="-90" dirty="0"/>
              <a:t> </a:t>
            </a:r>
            <a:r>
              <a:rPr spc="6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7691" y="1707133"/>
            <a:ext cx="2685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40" dirty="0">
                <a:solidFill>
                  <a:srgbClr val="007CC2"/>
                </a:solidFill>
                <a:latin typeface="Arial"/>
                <a:cs typeface="Arial"/>
              </a:rPr>
              <a:t>HACK-</a:t>
            </a:r>
            <a:r>
              <a:rPr sz="1800" b="1" spc="-300" dirty="0">
                <a:solidFill>
                  <a:srgbClr val="007CC2"/>
                </a:solidFill>
                <a:latin typeface="Arial"/>
                <a:cs typeface="Arial"/>
              </a:rPr>
              <a:t> </a:t>
            </a:r>
            <a:r>
              <a:rPr sz="1800" b="1" spc="125" dirty="0">
                <a:solidFill>
                  <a:srgbClr val="007CC2"/>
                </a:solidFill>
                <a:latin typeface="Arial"/>
                <a:cs typeface="Arial"/>
              </a:rPr>
              <a:t>AI-</a:t>
            </a:r>
            <a:r>
              <a:rPr sz="1800" b="1" spc="-300" dirty="0">
                <a:solidFill>
                  <a:srgbClr val="007CC2"/>
                </a:solidFill>
                <a:latin typeface="Arial"/>
                <a:cs typeface="Arial"/>
              </a:rPr>
              <a:t> </a:t>
            </a:r>
            <a:r>
              <a:rPr sz="1800" b="1" spc="135" dirty="0">
                <a:solidFill>
                  <a:srgbClr val="007CC2"/>
                </a:solidFill>
                <a:latin typeface="Arial"/>
                <a:cs typeface="Arial"/>
              </a:rPr>
              <a:t>THON</a:t>
            </a:r>
            <a:r>
              <a:rPr sz="1800" b="1" spc="405" dirty="0">
                <a:solidFill>
                  <a:srgbClr val="007CC2"/>
                </a:solidFill>
                <a:latin typeface="Arial"/>
                <a:cs typeface="Arial"/>
              </a:rPr>
              <a:t> </a:t>
            </a:r>
            <a:r>
              <a:rPr sz="1800" b="1" spc="125" dirty="0">
                <a:solidFill>
                  <a:srgbClr val="007CC2"/>
                </a:solidFill>
                <a:latin typeface="Arial"/>
                <a:cs typeface="Arial"/>
              </a:rPr>
              <a:t>2026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7691" y="2186051"/>
            <a:ext cx="38207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175" dirty="0">
                <a:solidFill>
                  <a:srgbClr val="003B79"/>
                </a:solidFill>
                <a:latin typeface="Calibri"/>
                <a:cs typeface="Calibri"/>
              </a:rPr>
              <a:t>QUBIT</a:t>
            </a:r>
            <a:r>
              <a:rPr sz="4800" b="1" spc="-100" dirty="0">
                <a:solidFill>
                  <a:srgbClr val="003B79"/>
                </a:solidFill>
                <a:latin typeface="Calibri"/>
                <a:cs typeface="Calibri"/>
              </a:rPr>
              <a:t> </a:t>
            </a:r>
            <a:r>
              <a:rPr sz="4800" b="1" spc="210" dirty="0">
                <a:solidFill>
                  <a:srgbClr val="003B79"/>
                </a:solidFill>
                <a:latin typeface="Calibri"/>
                <a:cs typeface="Calibri"/>
              </a:rPr>
              <a:t>ARENA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43569" y="1883283"/>
            <a:ext cx="6122670" cy="1457325"/>
          </a:xfrm>
          <a:custGeom>
            <a:avLst/>
            <a:gdLst/>
            <a:ahLst/>
            <a:cxnLst/>
            <a:rect l="l" t="t" r="r" b="b"/>
            <a:pathLst>
              <a:path w="6122669" h="1457325">
                <a:moveTo>
                  <a:pt x="60686" y="1457324"/>
                </a:moveTo>
                <a:lnTo>
                  <a:pt x="42470" y="1453644"/>
                </a:lnTo>
                <a:lnTo>
                  <a:pt x="20369" y="1438740"/>
                </a:lnTo>
                <a:lnTo>
                  <a:pt x="5466" y="1416639"/>
                </a:lnTo>
                <a:lnTo>
                  <a:pt x="0" y="1389583"/>
                </a:lnTo>
                <a:lnTo>
                  <a:pt x="0" y="69526"/>
                </a:lnTo>
                <a:lnTo>
                  <a:pt x="5465" y="42470"/>
                </a:lnTo>
                <a:lnTo>
                  <a:pt x="20369" y="20370"/>
                </a:lnTo>
                <a:lnTo>
                  <a:pt x="42470" y="5466"/>
                </a:lnTo>
                <a:lnTo>
                  <a:pt x="69526" y="0"/>
                </a:lnTo>
                <a:lnTo>
                  <a:pt x="6052642" y="0"/>
                </a:lnTo>
                <a:lnTo>
                  <a:pt x="6101799" y="20369"/>
                </a:lnTo>
                <a:lnTo>
                  <a:pt x="6122169" y="69526"/>
                </a:lnTo>
                <a:lnTo>
                  <a:pt x="6122169" y="1389583"/>
                </a:lnTo>
                <a:lnTo>
                  <a:pt x="6116703" y="1416640"/>
                </a:lnTo>
                <a:lnTo>
                  <a:pt x="6101799" y="1438740"/>
                </a:lnTo>
                <a:lnTo>
                  <a:pt x="6079698" y="1453644"/>
                </a:lnTo>
                <a:lnTo>
                  <a:pt x="6061483" y="1457324"/>
                </a:lnTo>
              </a:path>
            </a:pathLst>
          </a:custGeom>
          <a:ln w="38099">
            <a:solidFill>
              <a:srgbClr val="DBE4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687047" y="2091181"/>
            <a:ext cx="1243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5317A7"/>
                </a:solidFill>
                <a:latin typeface="Arial"/>
                <a:cs typeface="Arial"/>
              </a:rPr>
              <a:t>COLLEGE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87047" y="2641345"/>
            <a:ext cx="3947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66035" algn="l"/>
                <a:tab pos="2752725" algn="l"/>
              </a:tabLst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UIET, Panjab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University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	</a:t>
            </a:r>
            <a:r>
              <a:rPr sz="1800" spc="-50" dirty="0">
                <a:solidFill>
                  <a:srgbClr val="1F2937"/>
                </a:solidFill>
                <a:latin typeface="Arial"/>
                <a:cs typeface="Arial"/>
              </a:rPr>
              <a:t>|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	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Chandigarh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443434" y="3584066"/>
            <a:ext cx="6122670" cy="1596390"/>
          </a:xfrm>
          <a:custGeom>
            <a:avLst/>
            <a:gdLst/>
            <a:ahLst/>
            <a:cxnLst/>
            <a:rect l="l" t="t" r="r" b="b"/>
            <a:pathLst>
              <a:path w="6122669" h="1596389">
                <a:moveTo>
                  <a:pt x="0" y="69434"/>
                </a:moveTo>
                <a:lnTo>
                  <a:pt x="5451" y="42392"/>
                </a:lnTo>
                <a:lnTo>
                  <a:pt x="20322" y="20323"/>
                </a:lnTo>
                <a:lnTo>
                  <a:pt x="42391" y="5451"/>
                </a:lnTo>
                <a:lnTo>
                  <a:pt x="69434" y="0"/>
                </a:lnTo>
                <a:lnTo>
                  <a:pt x="6053005" y="0"/>
                </a:lnTo>
                <a:lnTo>
                  <a:pt x="6080008" y="5451"/>
                </a:lnTo>
                <a:lnTo>
                  <a:pt x="6102082" y="20322"/>
                </a:lnTo>
                <a:lnTo>
                  <a:pt x="6116976" y="42391"/>
                </a:lnTo>
                <a:lnTo>
                  <a:pt x="6122441" y="69434"/>
                </a:lnTo>
                <a:lnTo>
                  <a:pt x="6122441" y="1526895"/>
                </a:lnTo>
                <a:lnTo>
                  <a:pt x="6116989" y="1553898"/>
                </a:lnTo>
                <a:lnTo>
                  <a:pt x="6102117" y="1575972"/>
                </a:lnTo>
                <a:lnTo>
                  <a:pt x="6080048" y="1590865"/>
                </a:lnTo>
                <a:lnTo>
                  <a:pt x="6053005" y="1596330"/>
                </a:lnTo>
                <a:lnTo>
                  <a:pt x="69434" y="1596330"/>
                </a:lnTo>
                <a:lnTo>
                  <a:pt x="20358" y="1576006"/>
                </a:lnTo>
                <a:lnTo>
                  <a:pt x="0" y="1526895"/>
                </a:lnTo>
                <a:lnTo>
                  <a:pt x="0" y="69434"/>
                </a:lnTo>
              </a:path>
            </a:pathLst>
          </a:custGeom>
          <a:ln w="38099">
            <a:solidFill>
              <a:srgbClr val="DBE4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687047" y="3791965"/>
            <a:ext cx="2112645" cy="916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5" dirty="0">
                <a:solidFill>
                  <a:srgbClr val="F18B28"/>
                </a:solidFill>
                <a:latin typeface="Arial"/>
                <a:cs typeface="Arial"/>
              </a:rPr>
              <a:t>TEAM</a:t>
            </a:r>
            <a:r>
              <a:rPr sz="1800" b="1" spc="310" dirty="0">
                <a:solidFill>
                  <a:srgbClr val="F18B28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F18B28"/>
                </a:solidFill>
                <a:latin typeface="Arial"/>
                <a:cs typeface="Arial"/>
              </a:rPr>
              <a:t>MEMBERS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Mentalists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6500" y="5325998"/>
            <a:ext cx="7082790" cy="1276350"/>
          </a:xfrm>
          <a:custGeom>
            <a:avLst/>
            <a:gdLst/>
            <a:ahLst/>
            <a:cxnLst/>
            <a:rect l="l" t="t" r="r" b="b"/>
            <a:pathLst>
              <a:path w="7082790" h="1276350">
                <a:moveTo>
                  <a:pt x="47483" y="1276350"/>
                </a:moveTo>
                <a:lnTo>
                  <a:pt x="5467" y="1238304"/>
                </a:lnTo>
                <a:lnTo>
                  <a:pt x="0" y="69621"/>
                </a:lnTo>
                <a:lnTo>
                  <a:pt x="5467" y="42510"/>
                </a:lnTo>
                <a:lnTo>
                  <a:pt x="20381" y="20381"/>
                </a:lnTo>
                <a:lnTo>
                  <a:pt x="42510" y="5467"/>
                </a:lnTo>
                <a:lnTo>
                  <a:pt x="69621" y="0"/>
                </a:lnTo>
                <a:lnTo>
                  <a:pt x="7012575" y="0"/>
                </a:lnTo>
                <a:lnTo>
                  <a:pt x="7039686" y="5467"/>
                </a:lnTo>
                <a:lnTo>
                  <a:pt x="7061815" y="20381"/>
                </a:lnTo>
                <a:lnTo>
                  <a:pt x="7076729" y="42510"/>
                </a:lnTo>
                <a:lnTo>
                  <a:pt x="7082197" y="69621"/>
                </a:lnTo>
                <a:lnTo>
                  <a:pt x="7082197" y="1211192"/>
                </a:lnTo>
                <a:lnTo>
                  <a:pt x="7076729" y="1238304"/>
                </a:lnTo>
                <a:lnTo>
                  <a:pt x="7061815" y="1260433"/>
                </a:lnTo>
                <a:lnTo>
                  <a:pt x="7039686" y="1275347"/>
                </a:lnTo>
                <a:lnTo>
                  <a:pt x="7034713" y="1276350"/>
                </a:lnTo>
              </a:path>
            </a:pathLst>
          </a:custGeom>
          <a:ln w="38100">
            <a:solidFill>
              <a:srgbClr val="DBE4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69947" y="5464175"/>
            <a:ext cx="6416675" cy="98044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800" b="1" spc="120" dirty="0">
                <a:solidFill>
                  <a:srgbClr val="007CC2"/>
                </a:solidFill>
                <a:latin typeface="Arial"/>
                <a:cs typeface="Arial"/>
              </a:rPr>
              <a:t>SELECTED</a:t>
            </a:r>
            <a:r>
              <a:rPr sz="1800" b="1" spc="290" dirty="0">
                <a:solidFill>
                  <a:srgbClr val="007CC2"/>
                </a:solidFill>
                <a:latin typeface="Arial"/>
                <a:cs typeface="Arial"/>
              </a:rPr>
              <a:t> </a:t>
            </a:r>
            <a:r>
              <a:rPr sz="1800" b="1" spc="114" dirty="0">
                <a:solidFill>
                  <a:srgbClr val="007CC2"/>
                </a:solidFill>
                <a:latin typeface="Arial"/>
                <a:cs typeface="Arial"/>
              </a:rPr>
              <a:t>PROBLEM</a:t>
            </a:r>
            <a:r>
              <a:rPr sz="1800" b="1" spc="310" dirty="0">
                <a:solidFill>
                  <a:srgbClr val="007CC2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007CC2"/>
                </a:solidFill>
                <a:latin typeface="Arial"/>
                <a:cs typeface="Arial"/>
              </a:rPr>
              <a:t>STATEMENT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100"/>
              </a:lnSpc>
              <a:spcBef>
                <a:spcPts val="670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Comparing exact, heuristic, quantum-inspired and QPU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solvers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on NP-hard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puzzles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443575" y="5312282"/>
            <a:ext cx="6122670" cy="1276350"/>
          </a:xfrm>
          <a:custGeom>
            <a:avLst/>
            <a:gdLst/>
            <a:ahLst/>
            <a:cxnLst/>
            <a:rect l="l" t="t" r="r" b="b"/>
            <a:pathLst>
              <a:path w="6122669" h="1276350">
                <a:moveTo>
                  <a:pt x="47483" y="1276350"/>
                </a:moveTo>
                <a:lnTo>
                  <a:pt x="5467" y="1238304"/>
                </a:lnTo>
                <a:lnTo>
                  <a:pt x="0" y="69621"/>
                </a:lnTo>
                <a:lnTo>
                  <a:pt x="5467" y="42510"/>
                </a:lnTo>
                <a:lnTo>
                  <a:pt x="20381" y="20381"/>
                </a:lnTo>
                <a:lnTo>
                  <a:pt x="42510" y="5467"/>
                </a:lnTo>
                <a:lnTo>
                  <a:pt x="69621" y="0"/>
                </a:lnTo>
                <a:lnTo>
                  <a:pt x="6052535" y="0"/>
                </a:lnTo>
                <a:lnTo>
                  <a:pt x="6079647" y="5467"/>
                </a:lnTo>
                <a:lnTo>
                  <a:pt x="6101776" y="20381"/>
                </a:lnTo>
                <a:lnTo>
                  <a:pt x="6116690" y="42510"/>
                </a:lnTo>
                <a:lnTo>
                  <a:pt x="6122157" y="69621"/>
                </a:lnTo>
                <a:lnTo>
                  <a:pt x="6122157" y="1211192"/>
                </a:lnTo>
                <a:lnTo>
                  <a:pt x="6116690" y="1238304"/>
                </a:lnTo>
                <a:lnTo>
                  <a:pt x="6101776" y="1260433"/>
                </a:lnTo>
                <a:lnTo>
                  <a:pt x="6079647" y="1275347"/>
                </a:lnTo>
                <a:lnTo>
                  <a:pt x="6074674" y="1276350"/>
                </a:lnTo>
              </a:path>
            </a:pathLst>
          </a:custGeom>
          <a:ln w="38100">
            <a:solidFill>
              <a:srgbClr val="DBE4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687047" y="5520181"/>
            <a:ext cx="3824604" cy="76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20" dirty="0">
                <a:solidFill>
                  <a:srgbClr val="5317A7"/>
                </a:solidFill>
                <a:latin typeface="Arial"/>
                <a:cs typeface="Arial"/>
              </a:rPr>
              <a:t>TECHNOLOGY</a:t>
            </a:r>
            <a:r>
              <a:rPr sz="1800" b="1" spc="335" dirty="0">
                <a:solidFill>
                  <a:srgbClr val="5317A7"/>
                </a:solidFill>
                <a:latin typeface="Arial"/>
                <a:cs typeface="Arial"/>
              </a:rPr>
              <a:t> </a:t>
            </a:r>
            <a:r>
              <a:rPr sz="1800" b="1" spc="90" dirty="0">
                <a:solidFill>
                  <a:srgbClr val="5317A7"/>
                </a:solidFill>
                <a:latin typeface="Arial"/>
                <a:cs typeface="Arial"/>
              </a:rPr>
              <a:t>TRACK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Other: Quantum-inspired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optimization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754948" y="9779761"/>
            <a:ext cx="10731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A95A2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21964" y="9571545"/>
            <a:ext cx="654875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Arial"/>
                <a:cs typeface="Arial"/>
              </a:rPr>
              <a:t>© 2026 Infosys Limited. All rights </a:t>
            </a:r>
            <a:r>
              <a:rPr sz="2700" spc="-10" dirty="0">
                <a:latin typeface="Arial"/>
                <a:cs typeface="Arial"/>
              </a:rPr>
              <a:t>reserved.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Problem</a:t>
            </a:r>
            <a:r>
              <a:rPr spc="-80" dirty="0"/>
              <a:t> </a:t>
            </a:r>
            <a:r>
              <a:rPr spc="95" dirty="0"/>
              <a:t>Statement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57147" y="1871726"/>
            <a:ext cx="4065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05" dirty="0">
                <a:solidFill>
                  <a:srgbClr val="5317A7"/>
                </a:solidFill>
                <a:latin typeface="Arial"/>
                <a:cs typeface="Arial"/>
              </a:rPr>
              <a:t>ACTUAL</a:t>
            </a:r>
            <a:r>
              <a:rPr sz="1800" b="1" spc="310" dirty="0">
                <a:solidFill>
                  <a:srgbClr val="5317A7"/>
                </a:solidFill>
                <a:latin typeface="Arial"/>
                <a:cs typeface="Arial"/>
              </a:rPr>
              <a:t> </a:t>
            </a:r>
            <a:r>
              <a:rPr sz="1800" b="1" spc="114" dirty="0">
                <a:solidFill>
                  <a:srgbClr val="5317A7"/>
                </a:solidFill>
                <a:latin typeface="Arial"/>
                <a:cs typeface="Arial"/>
              </a:rPr>
              <a:t>PROBLEM</a:t>
            </a:r>
            <a:r>
              <a:rPr sz="1800" b="1" spc="310" dirty="0">
                <a:solidFill>
                  <a:srgbClr val="5317A7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5317A7"/>
                </a:solidFill>
                <a:latin typeface="Arial"/>
                <a:cs typeface="Arial"/>
              </a:rPr>
              <a:t>STATEMENT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7147" y="2440940"/>
            <a:ext cx="9275445" cy="11150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Quantum</a:t>
            </a:r>
            <a:r>
              <a:rPr sz="2400" spc="-4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claims</a:t>
            </a:r>
            <a:r>
              <a:rPr sz="24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are</a:t>
            </a:r>
            <a:r>
              <a:rPr sz="24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hard</a:t>
            </a:r>
            <a:r>
              <a:rPr sz="2400" spc="-4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to</a:t>
            </a:r>
            <a:r>
              <a:rPr sz="24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judge:</a:t>
            </a:r>
            <a:r>
              <a:rPr sz="24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there</a:t>
            </a:r>
            <a:r>
              <a:rPr sz="24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is</a:t>
            </a:r>
            <a:r>
              <a:rPr sz="2400" spc="-4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no</a:t>
            </a:r>
            <a:r>
              <a:rPr sz="24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fair,</a:t>
            </a:r>
            <a:r>
              <a:rPr sz="24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1F2937"/>
                </a:solidFill>
                <a:latin typeface="Arial"/>
                <a:cs typeface="Arial"/>
              </a:rPr>
              <a:t>hands-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on</a:t>
            </a:r>
            <a:r>
              <a:rPr sz="2400" spc="-4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way</a:t>
            </a:r>
            <a:r>
              <a:rPr sz="24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F2937"/>
                </a:solidFill>
                <a:latin typeface="Arial"/>
                <a:cs typeface="Arial"/>
              </a:rPr>
              <a:t>to 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compare</a:t>
            </a:r>
            <a:r>
              <a:rPr sz="2400" spc="-5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exact,</a:t>
            </a:r>
            <a:r>
              <a:rPr sz="2400" spc="-5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heuristic,</a:t>
            </a:r>
            <a:r>
              <a:rPr sz="2400" spc="-5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1F2937"/>
                </a:solidFill>
                <a:latin typeface="Arial"/>
                <a:cs typeface="Arial"/>
              </a:rPr>
              <a:t>quantum-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inspired</a:t>
            </a:r>
            <a:r>
              <a:rPr sz="2400" spc="-5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and</a:t>
            </a:r>
            <a:r>
              <a:rPr sz="2400" spc="-5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F2937"/>
                </a:solidFill>
                <a:latin typeface="Arial"/>
                <a:cs typeface="Arial"/>
              </a:rPr>
              <a:t>real-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QPU</a:t>
            </a:r>
            <a:r>
              <a:rPr sz="2400" spc="-5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solvers</a:t>
            </a:r>
            <a:r>
              <a:rPr sz="2400" spc="-5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F2937"/>
                </a:solidFill>
                <a:latin typeface="Arial"/>
                <a:cs typeface="Arial"/>
              </a:rPr>
              <a:t>on 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the</a:t>
            </a:r>
            <a:r>
              <a:rPr sz="2400" spc="-5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F2937"/>
                </a:solidFill>
                <a:latin typeface="Arial"/>
                <a:cs typeface="Arial"/>
              </a:rPr>
              <a:t>same</a:t>
            </a:r>
            <a:r>
              <a:rPr sz="2400" spc="-4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F2937"/>
                </a:solidFill>
                <a:latin typeface="Arial"/>
                <a:cs typeface="Arial"/>
              </a:rPr>
              <a:t>problem.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91035" y="1757807"/>
            <a:ext cx="5629910" cy="1068705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b="1" spc="85" dirty="0">
                <a:solidFill>
                  <a:srgbClr val="F18B28"/>
                </a:solidFill>
                <a:latin typeface="Arial"/>
                <a:cs typeface="Arial"/>
              </a:rPr>
              <a:t>WHO</a:t>
            </a:r>
            <a:r>
              <a:rPr sz="1800" b="1" spc="300" dirty="0">
                <a:solidFill>
                  <a:srgbClr val="F18B28"/>
                </a:solidFill>
                <a:latin typeface="Arial"/>
                <a:cs typeface="Arial"/>
              </a:rPr>
              <a:t> </a:t>
            </a:r>
            <a:r>
              <a:rPr sz="1800" b="1" spc="70" dirty="0">
                <a:solidFill>
                  <a:srgbClr val="F18B28"/>
                </a:solidFill>
                <a:latin typeface="Arial"/>
                <a:cs typeface="Arial"/>
              </a:rPr>
              <a:t>IS</a:t>
            </a:r>
            <a:r>
              <a:rPr sz="1800" b="1" spc="300" dirty="0">
                <a:solidFill>
                  <a:srgbClr val="F18B28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F18B28"/>
                </a:solidFill>
                <a:latin typeface="Arial"/>
                <a:cs typeface="Arial"/>
              </a:rPr>
              <a:t>AFFECTED?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100"/>
              </a:lnSpc>
              <a:spcBef>
                <a:spcPts val="1020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Students, educators and developers exploring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quantum optimization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91035" y="3403726"/>
            <a:ext cx="5273675" cy="1068705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b="1" spc="85" dirty="0">
                <a:solidFill>
                  <a:srgbClr val="62A745"/>
                </a:solidFill>
                <a:latin typeface="Arial"/>
                <a:cs typeface="Arial"/>
              </a:rPr>
              <a:t>WHY</a:t>
            </a:r>
            <a:r>
              <a:rPr sz="1800" b="1" spc="300" dirty="0">
                <a:solidFill>
                  <a:srgbClr val="62A745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62A745"/>
                </a:solidFill>
                <a:latin typeface="Arial"/>
                <a:cs typeface="Arial"/>
              </a:rPr>
              <a:t>DOES</a:t>
            </a:r>
            <a:r>
              <a:rPr sz="1800" b="1" spc="305" dirty="0">
                <a:solidFill>
                  <a:srgbClr val="62A745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62A745"/>
                </a:solidFill>
                <a:latin typeface="Arial"/>
                <a:cs typeface="Arial"/>
              </a:rPr>
              <a:t>IT</a:t>
            </a:r>
            <a:r>
              <a:rPr sz="1800" b="1" spc="300" dirty="0">
                <a:solidFill>
                  <a:srgbClr val="62A745"/>
                </a:solidFill>
                <a:latin typeface="Arial"/>
                <a:cs typeface="Arial"/>
              </a:rPr>
              <a:t> </a:t>
            </a:r>
            <a:r>
              <a:rPr sz="1800" b="1" spc="100" dirty="0">
                <a:solidFill>
                  <a:srgbClr val="62A745"/>
                </a:solidFill>
                <a:latin typeface="Arial"/>
                <a:cs typeface="Arial"/>
              </a:rPr>
              <a:t>MATTER?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100"/>
              </a:lnSpc>
              <a:spcBef>
                <a:spcPts val="1020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Hype outpaces evidence; reproducible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comparisons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build accurate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intuition.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7147" y="4066285"/>
            <a:ext cx="3837940" cy="1545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10" dirty="0">
                <a:solidFill>
                  <a:srgbClr val="007CC2"/>
                </a:solidFill>
                <a:latin typeface="Arial"/>
                <a:cs typeface="Arial"/>
              </a:rPr>
              <a:t>CURRENT</a:t>
            </a:r>
            <a:r>
              <a:rPr sz="1800" b="1" spc="300" dirty="0">
                <a:solidFill>
                  <a:srgbClr val="007CC2"/>
                </a:solidFill>
                <a:latin typeface="Arial"/>
                <a:cs typeface="Arial"/>
              </a:rPr>
              <a:t> </a:t>
            </a:r>
            <a:r>
              <a:rPr sz="1800" b="1" spc="95" dirty="0">
                <a:solidFill>
                  <a:srgbClr val="007CC2"/>
                </a:solidFill>
                <a:latin typeface="Arial"/>
                <a:cs typeface="Arial"/>
              </a:rPr>
              <a:t>GAP</a:t>
            </a:r>
            <a:r>
              <a:rPr sz="1800" b="1" spc="305" dirty="0">
                <a:solidFill>
                  <a:srgbClr val="007CC2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7CC2"/>
                </a:solidFill>
                <a:latin typeface="Arial"/>
                <a:cs typeface="Arial"/>
              </a:rPr>
              <a:t>/</a:t>
            </a:r>
            <a:r>
              <a:rPr sz="1800" b="1" spc="305" dirty="0">
                <a:solidFill>
                  <a:srgbClr val="007CC2"/>
                </a:solidFill>
                <a:latin typeface="Arial"/>
                <a:cs typeface="Arial"/>
              </a:rPr>
              <a:t> </a:t>
            </a:r>
            <a:r>
              <a:rPr sz="1800" b="1" spc="100" dirty="0">
                <a:solidFill>
                  <a:srgbClr val="007CC2"/>
                </a:solidFill>
                <a:latin typeface="Arial"/>
                <a:cs typeface="Arial"/>
              </a:rPr>
              <a:t>PAIN</a:t>
            </a:r>
            <a:r>
              <a:rPr sz="1800" b="1" spc="295" dirty="0">
                <a:solidFill>
                  <a:srgbClr val="007CC2"/>
                </a:solidFill>
                <a:latin typeface="Arial"/>
                <a:cs typeface="Arial"/>
              </a:rPr>
              <a:t> </a:t>
            </a:r>
            <a:r>
              <a:rPr sz="1800" b="1" spc="100" dirty="0">
                <a:solidFill>
                  <a:srgbClr val="007CC2"/>
                </a:solidFill>
                <a:latin typeface="Arial"/>
                <a:cs typeface="Arial"/>
              </a:rPr>
              <a:t>POINT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100"/>
              </a:lnSpc>
              <a:spcBef>
                <a:spcPts val="1465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Demos show one algorithm at a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time.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Exact search blows up, greedy </a:t>
            </a:r>
            <a:r>
              <a:rPr sz="1800" spc="-20" dirty="0">
                <a:solidFill>
                  <a:srgbClr val="1F2937"/>
                </a:solidFill>
                <a:latin typeface="Arial"/>
                <a:cs typeface="Arial"/>
              </a:rPr>
              <a:t>gets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trapped, and QPU access is slow </a:t>
            </a:r>
            <a:r>
              <a:rPr sz="1800" spc="-25" dirty="0">
                <a:solidFill>
                  <a:srgbClr val="1F2937"/>
                </a:solidFill>
                <a:latin typeface="Arial"/>
                <a:cs typeface="Arial"/>
              </a:rPr>
              <a:t>and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noisy.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73215" y="4066285"/>
            <a:ext cx="4314190" cy="1545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20" dirty="0">
                <a:solidFill>
                  <a:srgbClr val="F18B28"/>
                </a:solidFill>
                <a:latin typeface="Arial"/>
                <a:cs typeface="Arial"/>
              </a:rPr>
              <a:t>EVIDENCE</a:t>
            </a:r>
            <a:r>
              <a:rPr sz="1800" b="1" spc="300" dirty="0">
                <a:solidFill>
                  <a:srgbClr val="F18B2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18B28"/>
                </a:solidFill>
                <a:latin typeface="Arial"/>
                <a:cs typeface="Arial"/>
              </a:rPr>
              <a:t>/</a:t>
            </a:r>
            <a:r>
              <a:rPr sz="1800" b="1" spc="305" dirty="0">
                <a:solidFill>
                  <a:srgbClr val="F18B28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F18B28"/>
                </a:solidFill>
                <a:latin typeface="Arial"/>
                <a:cs typeface="Arial"/>
              </a:rPr>
              <a:t>SCENARIO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100"/>
              </a:lnSpc>
              <a:spcBef>
                <a:spcPts val="1465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Exact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search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is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optimal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but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O(N!)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or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O(2ⁿ);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greedy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takes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under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1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ms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but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can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miss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1F2937"/>
                </a:solidFill>
                <a:latin typeface="Arial"/>
                <a:cs typeface="Arial"/>
              </a:rPr>
              <a:t>the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best answer (see the "Greedy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Trap" challenge).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91035" y="5163565"/>
            <a:ext cx="2809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14" dirty="0">
                <a:solidFill>
                  <a:srgbClr val="5317A7"/>
                </a:solidFill>
                <a:latin typeface="Arial"/>
                <a:cs typeface="Arial"/>
              </a:rPr>
              <a:t>SUCCESS</a:t>
            </a:r>
            <a:r>
              <a:rPr sz="1800" b="1" spc="320" dirty="0">
                <a:solidFill>
                  <a:srgbClr val="5317A7"/>
                </a:solidFill>
                <a:latin typeface="Arial"/>
                <a:cs typeface="Arial"/>
              </a:rPr>
              <a:t> </a:t>
            </a:r>
            <a:r>
              <a:rPr sz="1800" b="1" spc="114" dirty="0">
                <a:solidFill>
                  <a:srgbClr val="5317A7"/>
                </a:solidFill>
                <a:latin typeface="Arial"/>
                <a:cs typeface="Arial"/>
              </a:rPr>
              <a:t>DEFINITION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591035" y="5875654"/>
            <a:ext cx="536194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Same</a:t>
            </a:r>
            <a:r>
              <a:rPr sz="1800" spc="-2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seeded</a:t>
            </a:r>
            <a:r>
              <a:rPr sz="1800" spc="-2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puzzle</a:t>
            </a:r>
            <a:r>
              <a:rPr sz="1800" spc="-2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raced</a:t>
            </a:r>
            <a:r>
              <a:rPr sz="1800" spc="-2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across</a:t>
            </a:r>
            <a:r>
              <a:rPr sz="1800" spc="-2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solvers</a:t>
            </a:r>
            <a:r>
              <a:rPr sz="1800" spc="-2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with</a:t>
            </a:r>
            <a:r>
              <a:rPr sz="1800" spc="-2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step-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level telemetry, plus a real IBM QPU run to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verify.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Proposed</a:t>
            </a:r>
            <a:r>
              <a:rPr spc="-95" dirty="0"/>
              <a:t> </a:t>
            </a:r>
            <a:r>
              <a:rPr spc="100" dirty="0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814052" y="1453459"/>
            <a:ext cx="16411575" cy="1367790"/>
          </a:xfrm>
          <a:custGeom>
            <a:avLst/>
            <a:gdLst/>
            <a:ahLst/>
            <a:cxnLst/>
            <a:rect l="l" t="t" r="r" b="b"/>
            <a:pathLst>
              <a:path w="16411575" h="1367789">
                <a:moveTo>
                  <a:pt x="16410957" y="1298172"/>
                </a:moveTo>
                <a:lnTo>
                  <a:pt x="16407387" y="1318564"/>
                </a:lnTo>
                <a:lnTo>
                  <a:pt x="16392440" y="1344147"/>
                </a:lnTo>
                <a:lnTo>
                  <a:pt x="16370278" y="1361401"/>
                </a:lnTo>
                <a:lnTo>
                  <a:pt x="16343151" y="1367730"/>
                </a:lnTo>
                <a:lnTo>
                  <a:pt x="69717" y="1367730"/>
                </a:lnTo>
                <a:lnTo>
                  <a:pt x="20429" y="1344147"/>
                </a:lnTo>
                <a:lnTo>
                  <a:pt x="0" y="1287249"/>
                </a:lnTo>
                <a:lnTo>
                  <a:pt x="0" y="80480"/>
                </a:lnTo>
                <a:lnTo>
                  <a:pt x="5482" y="49166"/>
                </a:lnTo>
                <a:lnTo>
                  <a:pt x="20429" y="23583"/>
                </a:lnTo>
                <a:lnTo>
                  <a:pt x="42591" y="6328"/>
                </a:lnTo>
                <a:lnTo>
                  <a:pt x="69717" y="0"/>
                </a:lnTo>
                <a:lnTo>
                  <a:pt x="16343151" y="0"/>
                </a:lnTo>
                <a:lnTo>
                  <a:pt x="16370278" y="6328"/>
                </a:lnTo>
                <a:lnTo>
                  <a:pt x="16392440" y="23583"/>
                </a:lnTo>
                <a:lnTo>
                  <a:pt x="16407387" y="49166"/>
                </a:lnTo>
                <a:lnTo>
                  <a:pt x="16410957" y="69557"/>
                </a:lnTo>
              </a:path>
            </a:pathLst>
          </a:custGeom>
          <a:ln w="38100">
            <a:solidFill>
              <a:srgbClr val="DBE4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23278" y="1437352"/>
            <a:ext cx="16256635" cy="129730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150"/>
              </a:spcBef>
            </a:pPr>
            <a:r>
              <a:rPr sz="1800" b="1" spc="120" dirty="0">
                <a:solidFill>
                  <a:srgbClr val="007CC2"/>
                </a:solidFill>
                <a:latin typeface="Arial"/>
                <a:cs typeface="Arial"/>
              </a:rPr>
              <a:t>SOLUTION</a:t>
            </a:r>
            <a:r>
              <a:rPr sz="1800" b="1" spc="290" dirty="0">
                <a:solidFill>
                  <a:srgbClr val="007CC2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007CC2"/>
                </a:solidFill>
                <a:latin typeface="Arial"/>
                <a:cs typeface="Arial"/>
              </a:rPr>
              <a:t>IN</a:t>
            </a:r>
            <a:r>
              <a:rPr sz="1800" b="1" spc="290" dirty="0">
                <a:solidFill>
                  <a:srgbClr val="007CC2"/>
                </a:solidFill>
                <a:latin typeface="Arial"/>
                <a:cs typeface="Arial"/>
              </a:rPr>
              <a:t> </a:t>
            </a:r>
            <a:r>
              <a:rPr sz="1800" b="1" spc="90" dirty="0">
                <a:solidFill>
                  <a:srgbClr val="007CC2"/>
                </a:solidFill>
                <a:latin typeface="Arial"/>
                <a:cs typeface="Arial"/>
              </a:rPr>
              <a:t>ONE</a:t>
            </a:r>
            <a:r>
              <a:rPr sz="1800" b="1" spc="300" dirty="0">
                <a:solidFill>
                  <a:srgbClr val="007CC2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007CC2"/>
                </a:solidFill>
                <a:latin typeface="Arial"/>
                <a:cs typeface="Arial"/>
              </a:rPr>
              <a:t>SENTENCE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700"/>
              </a:lnSpc>
              <a:spcBef>
                <a:spcPts val="1485"/>
              </a:spcBef>
            </a:pP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Qubit</a:t>
            </a:r>
            <a:r>
              <a:rPr sz="2300" spc="-3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Arena</a:t>
            </a:r>
            <a:r>
              <a:rPr sz="2300" spc="-3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races</a:t>
            </a:r>
            <a:r>
              <a:rPr sz="2300" spc="-3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exact,</a:t>
            </a:r>
            <a:r>
              <a:rPr sz="2300" spc="-3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greedy</a:t>
            </a:r>
            <a:r>
              <a:rPr sz="2300" spc="-3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and</a:t>
            </a:r>
            <a:r>
              <a:rPr sz="2300" spc="-3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1F2937"/>
                </a:solidFill>
                <a:latin typeface="Arial"/>
                <a:cs typeface="Arial"/>
              </a:rPr>
              <a:t>quantum-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inspired</a:t>
            </a:r>
            <a:r>
              <a:rPr sz="2300" spc="-3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solvers</a:t>
            </a:r>
            <a:r>
              <a:rPr sz="2300" spc="-3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on</a:t>
            </a:r>
            <a:r>
              <a:rPr sz="2300" spc="-3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identical</a:t>
            </a:r>
            <a:r>
              <a:rPr sz="2300" spc="-3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1F2937"/>
                </a:solidFill>
                <a:latin typeface="Arial"/>
                <a:cs typeface="Arial"/>
              </a:rPr>
              <a:t>N-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Queens</a:t>
            </a:r>
            <a:r>
              <a:rPr sz="2300" spc="-3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and</a:t>
            </a:r>
            <a:r>
              <a:rPr sz="2300" spc="-3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Knapsack</a:t>
            </a:r>
            <a:r>
              <a:rPr sz="2300" spc="-3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puzzles,</a:t>
            </a:r>
            <a:r>
              <a:rPr sz="2300" spc="-3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so</a:t>
            </a:r>
            <a:r>
              <a:rPr sz="2300" spc="-3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learners</a:t>
            </a:r>
            <a:r>
              <a:rPr sz="2300" spc="-3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1F2937"/>
                </a:solidFill>
                <a:latin typeface="Arial"/>
                <a:cs typeface="Arial"/>
              </a:rPr>
              <a:t>see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with</a:t>
            </a:r>
            <a:r>
              <a:rPr sz="23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live</a:t>
            </a:r>
            <a:r>
              <a:rPr sz="23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telemetry</a:t>
            </a:r>
            <a:r>
              <a:rPr sz="23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where</a:t>
            </a:r>
            <a:r>
              <a:rPr sz="23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each</a:t>
            </a:r>
            <a:r>
              <a:rPr sz="23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approach</a:t>
            </a:r>
            <a:r>
              <a:rPr sz="23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wins</a:t>
            </a:r>
            <a:r>
              <a:rPr sz="23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F2937"/>
                </a:solidFill>
                <a:latin typeface="Arial"/>
                <a:cs typeface="Arial"/>
              </a:rPr>
              <a:t>or</a:t>
            </a:r>
            <a:r>
              <a:rPr sz="23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1F2937"/>
                </a:solidFill>
                <a:latin typeface="Arial"/>
                <a:cs typeface="Arial"/>
              </a:rPr>
              <a:t>fails.</a:t>
            </a:r>
            <a:endParaRPr sz="23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53261" y="3147801"/>
            <a:ext cx="5046345" cy="3055620"/>
            <a:chOff x="953261" y="3147801"/>
            <a:chExt cx="5046345" cy="3055620"/>
          </a:xfrm>
        </p:grpSpPr>
        <p:sp>
          <p:nvSpPr>
            <p:cNvPr id="6" name="object 6"/>
            <p:cNvSpPr/>
            <p:nvPr/>
          </p:nvSpPr>
          <p:spPr>
            <a:xfrm>
              <a:off x="976122" y="3170681"/>
              <a:ext cx="4999990" cy="3013075"/>
            </a:xfrm>
            <a:custGeom>
              <a:avLst/>
              <a:gdLst/>
              <a:ahLst/>
              <a:cxnLst/>
              <a:rect l="l" t="t" r="r" b="b"/>
              <a:pathLst>
                <a:path w="4999990" h="3013075">
                  <a:moveTo>
                    <a:pt x="4932617" y="3012948"/>
                  </a:moveTo>
                  <a:lnTo>
                    <a:pt x="69151" y="3012948"/>
                  </a:lnTo>
                  <a:lnTo>
                    <a:pt x="42232" y="3007514"/>
                  </a:lnTo>
                  <a:lnTo>
                    <a:pt x="20252" y="2992695"/>
                  </a:lnTo>
                  <a:lnTo>
                    <a:pt x="5433" y="2970715"/>
                  </a:lnTo>
                  <a:lnTo>
                    <a:pt x="0" y="2943796"/>
                  </a:lnTo>
                  <a:lnTo>
                    <a:pt x="0" y="69151"/>
                  </a:lnTo>
                  <a:lnTo>
                    <a:pt x="5433" y="42233"/>
                  </a:lnTo>
                  <a:lnTo>
                    <a:pt x="20252" y="20252"/>
                  </a:lnTo>
                  <a:lnTo>
                    <a:pt x="42232" y="5433"/>
                  </a:lnTo>
                  <a:lnTo>
                    <a:pt x="69151" y="0"/>
                  </a:lnTo>
                  <a:lnTo>
                    <a:pt x="4932617" y="0"/>
                  </a:lnTo>
                  <a:lnTo>
                    <a:pt x="4959535" y="5433"/>
                  </a:lnTo>
                  <a:lnTo>
                    <a:pt x="4981515" y="20252"/>
                  </a:lnTo>
                  <a:lnTo>
                    <a:pt x="4996334" y="42233"/>
                  </a:lnTo>
                  <a:lnTo>
                    <a:pt x="4999402" y="57433"/>
                  </a:lnTo>
                  <a:lnTo>
                    <a:pt x="4999402" y="2955514"/>
                  </a:lnTo>
                  <a:lnTo>
                    <a:pt x="4996334" y="2970715"/>
                  </a:lnTo>
                  <a:lnTo>
                    <a:pt x="4981515" y="2992695"/>
                  </a:lnTo>
                  <a:lnTo>
                    <a:pt x="4959535" y="3007514"/>
                  </a:lnTo>
                  <a:lnTo>
                    <a:pt x="4932617" y="3012948"/>
                  </a:lnTo>
                  <a:close/>
                </a:path>
              </a:pathLst>
            </a:custGeom>
            <a:solidFill>
              <a:srgbClr val="E9F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76121" y="3170661"/>
              <a:ext cx="5000625" cy="3009900"/>
            </a:xfrm>
            <a:custGeom>
              <a:avLst/>
              <a:gdLst/>
              <a:ahLst/>
              <a:cxnLst/>
              <a:rect l="l" t="t" r="r" b="b"/>
              <a:pathLst>
                <a:path w="5000625" h="3009900">
                  <a:moveTo>
                    <a:pt x="5000530" y="2949461"/>
                  </a:moveTo>
                  <a:lnTo>
                    <a:pt x="4996332" y="2970738"/>
                  </a:lnTo>
                  <a:lnTo>
                    <a:pt x="4981472" y="2992745"/>
                  </a:lnTo>
                  <a:lnTo>
                    <a:pt x="4959492" y="3007563"/>
                  </a:lnTo>
                  <a:lnTo>
                    <a:pt x="4947698" y="3009830"/>
                  </a:lnTo>
                </a:path>
                <a:path w="5000625" h="3009900">
                  <a:moveTo>
                    <a:pt x="54057" y="3009889"/>
                  </a:moveTo>
                  <a:lnTo>
                    <a:pt x="42235" y="3007522"/>
                  </a:lnTo>
                  <a:lnTo>
                    <a:pt x="20222" y="2992671"/>
                  </a:lnTo>
                  <a:lnTo>
                    <a:pt x="5420" y="2970669"/>
                  </a:lnTo>
                  <a:lnTo>
                    <a:pt x="0" y="2943747"/>
                  </a:lnTo>
                  <a:lnTo>
                    <a:pt x="0" y="69169"/>
                  </a:lnTo>
                  <a:lnTo>
                    <a:pt x="20258" y="20269"/>
                  </a:lnTo>
                  <a:lnTo>
                    <a:pt x="69158" y="21"/>
                  </a:lnTo>
                  <a:lnTo>
                    <a:pt x="4932511" y="0"/>
                  </a:lnTo>
                  <a:lnTo>
                    <a:pt x="4959459" y="5403"/>
                  </a:lnTo>
                  <a:lnTo>
                    <a:pt x="4981480" y="20222"/>
                  </a:lnTo>
                  <a:lnTo>
                    <a:pt x="4996306" y="42197"/>
                  </a:lnTo>
                  <a:lnTo>
                    <a:pt x="5000541" y="63526"/>
                  </a:lnTo>
                </a:path>
              </a:pathLst>
            </a:custGeom>
            <a:ln w="45719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24915" y="3460623"/>
              <a:ext cx="650240" cy="650240"/>
            </a:xfrm>
            <a:custGeom>
              <a:avLst/>
              <a:gdLst/>
              <a:ahLst/>
              <a:cxnLst/>
              <a:rect l="l" t="t" r="r" b="b"/>
              <a:pathLst>
                <a:path w="650239" h="650239">
                  <a:moveTo>
                    <a:pt x="324992" y="649985"/>
                  </a:moveTo>
                  <a:lnTo>
                    <a:pt x="276976" y="646461"/>
                  </a:lnTo>
                  <a:lnTo>
                    <a:pt x="231144" y="636223"/>
                  </a:lnTo>
                  <a:lnTo>
                    <a:pt x="188000" y="619774"/>
                  </a:lnTo>
                  <a:lnTo>
                    <a:pt x="148047" y="597618"/>
                  </a:lnTo>
                  <a:lnTo>
                    <a:pt x="111789" y="570257"/>
                  </a:lnTo>
                  <a:lnTo>
                    <a:pt x="79728" y="538196"/>
                  </a:lnTo>
                  <a:lnTo>
                    <a:pt x="52367" y="501938"/>
                  </a:lnTo>
                  <a:lnTo>
                    <a:pt x="30211" y="461985"/>
                  </a:lnTo>
                  <a:lnTo>
                    <a:pt x="13762" y="418841"/>
                  </a:lnTo>
                  <a:lnTo>
                    <a:pt x="3524" y="373009"/>
                  </a:lnTo>
                  <a:lnTo>
                    <a:pt x="0" y="324992"/>
                  </a:lnTo>
                  <a:lnTo>
                    <a:pt x="3524" y="276976"/>
                  </a:lnTo>
                  <a:lnTo>
                    <a:pt x="13762" y="231144"/>
                  </a:lnTo>
                  <a:lnTo>
                    <a:pt x="30211" y="188000"/>
                  </a:lnTo>
                  <a:lnTo>
                    <a:pt x="52367" y="148047"/>
                  </a:lnTo>
                  <a:lnTo>
                    <a:pt x="79728" y="111789"/>
                  </a:lnTo>
                  <a:lnTo>
                    <a:pt x="111789" y="79728"/>
                  </a:lnTo>
                  <a:lnTo>
                    <a:pt x="148047" y="52367"/>
                  </a:lnTo>
                  <a:lnTo>
                    <a:pt x="188000" y="30211"/>
                  </a:lnTo>
                  <a:lnTo>
                    <a:pt x="231144" y="13762"/>
                  </a:lnTo>
                  <a:lnTo>
                    <a:pt x="276976" y="3524"/>
                  </a:lnTo>
                  <a:lnTo>
                    <a:pt x="324992" y="0"/>
                  </a:lnTo>
                  <a:lnTo>
                    <a:pt x="373009" y="3524"/>
                  </a:lnTo>
                  <a:lnTo>
                    <a:pt x="418841" y="13762"/>
                  </a:lnTo>
                  <a:lnTo>
                    <a:pt x="461985" y="30211"/>
                  </a:lnTo>
                  <a:lnTo>
                    <a:pt x="501938" y="52367"/>
                  </a:lnTo>
                  <a:lnTo>
                    <a:pt x="538196" y="79728"/>
                  </a:lnTo>
                  <a:lnTo>
                    <a:pt x="570257" y="111789"/>
                  </a:lnTo>
                  <a:lnTo>
                    <a:pt x="597617" y="148047"/>
                  </a:lnTo>
                  <a:lnTo>
                    <a:pt x="619774" y="188000"/>
                  </a:lnTo>
                  <a:lnTo>
                    <a:pt x="636222" y="231144"/>
                  </a:lnTo>
                  <a:lnTo>
                    <a:pt x="646461" y="276976"/>
                  </a:lnTo>
                  <a:lnTo>
                    <a:pt x="649985" y="324992"/>
                  </a:lnTo>
                  <a:lnTo>
                    <a:pt x="646461" y="373009"/>
                  </a:lnTo>
                  <a:lnTo>
                    <a:pt x="636222" y="418841"/>
                  </a:lnTo>
                  <a:lnTo>
                    <a:pt x="619774" y="461985"/>
                  </a:lnTo>
                  <a:lnTo>
                    <a:pt x="597617" y="501938"/>
                  </a:lnTo>
                  <a:lnTo>
                    <a:pt x="570257" y="538196"/>
                  </a:lnTo>
                  <a:lnTo>
                    <a:pt x="538196" y="570257"/>
                  </a:lnTo>
                  <a:lnTo>
                    <a:pt x="501938" y="597618"/>
                  </a:lnTo>
                  <a:lnTo>
                    <a:pt x="461985" y="619774"/>
                  </a:lnTo>
                  <a:lnTo>
                    <a:pt x="418841" y="636223"/>
                  </a:lnTo>
                  <a:lnTo>
                    <a:pt x="373009" y="646461"/>
                  </a:lnTo>
                  <a:lnTo>
                    <a:pt x="324992" y="649985"/>
                  </a:lnTo>
                  <a:close/>
                </a:path>
              </a:pathLst>
            </a:custGeom>
            <a:solidFill>
              <a:srgbClr val="007C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84124" y="3574415"/>
            <a:ext cx="131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4700" y="3498595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11726"/>
                </a:solidFill>
                <a:latin typeface="Arial"/>
                <a:cs typeface="Arial"/>
              </a:rPr>
              <a:t>INPUT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9171" y="4362894"/>
            <a:ext cx="404749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User</a:t>
            </a:r>
            <a:r>
              <a:rPr sz="2000" spc="-4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picks</a:t>
            </a:r>
            <a:r>
              <a:rPr sz="2000" spc="-4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a</a:t>
            </a:r>
            <a:r>
              <a:rPr sz="2000" spc="-4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puzzle</a:t>
            </a:r>
            <a:r>
              <a:rPr sz="2000" spc="-4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F2937"/>
                </a:solidFill>
                <a:latin typeface="Arial"/>
                <a:cs typeface="Arial"/>
              </a:rPr>
              <a:t>(N-Queens,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Knapsack,</a:t>
            </a:r>
            <a:r>
              <a:rPr sz="2000" spc="-5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or</a:t>
            </a:r>
            <a:r>
              <a:rPr sz="2000" spc="-5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Sudoku),</a:t>
            </a:r>
            <a:r>
              <a:rPr sz="2000" spc="-4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a</a:t>
            </a:r>
            <a:r>
              <a:rPr sz="2000" spc="-5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size</a:t>
            </a:r>
            <a:r>
              <a:rPr sz="2000" spc="-4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N</a:t>
            </a:r>
            <a:r>
              <a:rPr sz="2000" spc="-5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1F2937"/>
                </a:solidFill>
                <a:latin typeface="Arial"/>
                <a:cs typeface="Arial"/>
              </a:rPr>
              <a:t>or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capacity</a:t>
            </a:r>
            <a:r>
              <a:rPr sz="2000" spc="-4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W,</a:t>
            </a:r>
            <a:r>
              <a:rPr sz="2000" spc="-4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and</a:t>
            </a:r>
            <a:r>
              <a:rPr sz="2000" spc="-4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the</a:t>
            </a:r>
            <a:r>
              <a:rPr sz="2000" spc="-4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solvers</a:t>
            </a:r>
            <a:r>
              <a:rPr sz="2000" spc="-4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to</a:t>
            </a:r>
            <a:r>
              <a:rPr sz="2000" spc="-4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F2937"/>
                </a:solidFill>
                <a:latin typeface="Arial"/>
                <a:cs typeface="Arial"/>
              </a:rPr>
              <a:t>race.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Seeded</a:t>
            </a:r>
            <a:r>
              <a:rPr sz="2000" spc="-6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runs</a:t>
            </a:r>
            <a:r>
              <a:rPr sz="2000" spc="-6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are</a:t>
            </a:r>
            <a:r>
              <a:rPr sz="2000" spc="-6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F2937"/>
                </a:solidFill>
                <a:latin typeface="Arial"/>
                <a:cs typeface="Arial"/>
              </a:rPr>
              <a:t>reproducible.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66054" y="4061713"/>
            <a:ext cx="19050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spc="-50" dirty="0">
                <a:solidFill>
                  <a:srgbClr val="007CC2"/>
                </a:solidFill>
                <a:latin typeface="Arial"/>
                <a:cs typeface="Arial"/>
              </a:rPr>
              <a:t>›</a:t>
            </a:r>
            <a:endParaRPr sz="39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521957" y="3147801"/>
            <a:ext cx="5046345" cy="3055620"/>
            <a:chOff x="6521957" y="3147801"/>
            <a:chExt cx="5046345" cy="3055620"/>
          </a:xfrm>
        </p:grpSpPr>
        <p:sp>
          <p:nvSpPr>
            <p:cNvPr id="14" name="object 14"/>
            <p:cNvSpPr/>
            <p:nvPr/>
          </p:nvSpPr>
          <p:spPr>
            <a:xfrm>
              <a:off x="6544817" y="3170681"/>
              <a:ext cx="4999990" cy="3013075"/>
            </a:xfrm>
            <a:custGeom>
              <a:avLst/>
              <a:gdLst/>
              <a:ahLst/>
              <a:cxnLst/>
              <a:rect l="l" t="t" r="r" b="b"/>
              <a:pathLst>
                <a:path w="4999990" h="3013075">
                  <a:moveTo>
                    <a:pt x="4932616" y="3012948"/>
                  </a:moveTo>
                  <a:lnTo>
                    <a:pt x="69151" y="3012948"/>
                  </a:lnTo>
                  <a:lnTo>
                    <a:pt x="42233" y="3007514"/>
                  </a:lnTo>
                  <a:lnTo>
                    <a:pt x="20252" y="2992695"/>
                  </a:lnTo>
                  <a:lnTo>
                    <a:pt x="5433" y="2970715"/>
                  </a:lnTo>
                  <a:lnTo>
                    <a:pt x="0" y="2943796"/>
                  </a:lnTo>
                  <a:lnTo>
                    <a:pt x="0" y="69151"/>
                  </a:lnTo>
                  <a:lnTo>
                    <a:pt x="5433" y="42233"/>
                  </a:lnTo>
                  <a:lnTo>
                    <a:pt x="20252" y="20252"/>
                  </a:lnTo>
                  <a:lnTo>
                    <a:pt x="42233" y="5433"/>
                  </a:lnTo>
                  <a:lnTo>
                    <a:pt x="69151" y="0"/>
                  </a:lnTo>
                  <a:lnTo>
                    <a:pt x="4932616" y="0"/>
                  </a:lnTo>
                  <a:lnTo>
                    <a:pt x="4959535" y="5433"/>
                  </a:lnTo>
                  <a:lnTo>
                    <a:pt x="4981515" y="20252"/>
                  </a:lnTo>
                  <a:lnTo>
                    <a:pt x="4996334" y="42233"/>
                  </a:lnTo>
                  <a:lnTo>
                    <a:pt x="4999402" y="57433"/>
                  </a:lnTo>
                  <a:lnTo>
                    <a:pt x="4999402" y="2955515"/>
                  </a:lnTo>
                  <a:lnTo>
                    <a:pt x="4996334" y="2970715"/>
                  </a:lnTo>
                  <a:lnTo>
                    <a:pt x="4981515" y="2992695"/>
                  </a:lnTo>
                  <a:lnTo>
                    <a:pt x="4959535" y="3007514"/>
                  </a:lnTo>
                  <a:lnTo>
                    <a:pt x="4932616" y="3012948"/>
                  </a:lnTo>
                  <a:close/>
                </a:path>
              </a:pathLst>
            </a:custGeom>
            <a:solidFill>
              <a:srgbClr val="F2E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44817" y="3170661"/>
              <a:ext cx="5000625" cy="3009900"/>
            </a:xfrm>
            <a:custGeom>
              <a:avLst/>
              <a:gdLst/>
              <a:ahLst/>
              <a:cxnLst/>
              <a:rect l="l" t="t" r="r" b="b"/>
              <a:pathLst>
                <a:path w="5000625" h="3009900">
                  <a:moveTo>
                    <a:pt x="5000530" y="2949461"/>
                  </a:moveTo>
                  <a:lnTo>
                    <a:pt x="4996332" y="2970738"/>
                  </a:lnTo>
                  <a:lnTo>
                    <a:pt x="4981472" y="2992745"/>
                  </a:lnTo>
                  <a:lnTo>
                    <a:pt x="4959492" y="3007563"/>
                  </a:lnTo>
                  <a:lnTo>
                    <a:pt x="4947697" y="3009830"/>
                  </a:lnTo>
                </a:path>
                <a:path w="5000625" h="3009900">
                  <a:moveTo>
                    <a:pt x="54057" y="3009889"/>
                  </a:moveTo>
                  <a:lnTo>
                    <a:pt x="42235" y="3007522"/>
                  </a:lnTo>
                  <a:lnTo>
                    <a:pt x="20222" y="2992671"/>
                  </a:lnTo>
                  <a:lnTo>
                    <a:pt x="5420" y="2970669"/>
                  </a:lnTo>
                  <a:lnTo>
                    <a:pt x="0" y="2943747"/>
                  </a:lnTo>
                  <a:lnTo>
                    <a:pt x="0" y="69169"/>
                  </a:lnTo>
                  <a:lnTo>
                    <a:pt x="20258" y="20269"/>
                  </a:lnTo>
                  <a:lnTo>
                    <a:pt x="69158" y="21"/>
                  </a:lnTo>
                  <a:lnTo>
                    <a:pt x="4932511" y="0"/>
                  </a:lnTo>
                  <a:lnTo>
                    <a:pt x="4959459" y="5404"/>
                  </a:lnTo>
                  <a:lnTo>
                    <a:pt x="4981480" y="20222"/>
                  </a:lnTo>
                  <a:lnTo>
                    <a:pt x="4996306" y="42197"/>
                  </a:lnTo>
                  <a:lnTo>
                    <a:pt x="5000541" y="63526"/>
                  </a:lnTo>
                </a:path>
              </a:pathLst>
            </a:custGeom>
            <a:ln w="45719">
              <a:solidFill>
                <a:srgbClr val="531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793610" y="3460623"/>
              <a:ext cx="650240" cy="650240"/>
            </a:xfrm>
            <a:custGeom>
              <a:avLst/>
              <a:gdLst/>
              <a:ahLst/>
              <a:cxnLst/>
              <a:rect l="l" t="t" r="r" b="b"/>
              <a:pathLst>
                <a:path w="650240" h="650239">
                  <a:moveTo>
                    <a:pt x="324992" y="649985"/>
                  </a:moveTo>
                  <a:lnTo>
                    <a:pt x="276976" y="646461"/>
                  </a:lnTo>
                  <a:lnTo>
                    <a:pt x="231144" y="636223"/>
                  </a:lnTo>
                  <a:lnTo>
                    <a:pt x="188000" y="619774"/>
                  </a:lnTo>
                  <a:lnTo>
                    <a:pt x="148047" y="597618"/>
                  </a:lnTo>
                  <a:lnTo>
                    <a:pt x="111789" y="570257"/>
                  </a:lnTo>
                  <a:lnTo>
                    <a:pt x="79728" y="538196"/>
                  </a:lnTo>
                  <a:lnTo>
                    <a:pt x="52367" y="501938"/>
                  </a:lnTo>
                  <a:lnTo>
                    <a:pt x="30211" y="461985"/>
                  </a:lnTo>
                  <a:lnTo>
                    <a:pt x="13762" y="418841"/>
                  </a:lnTo>
                  <a:lnTo>
                    <a:pt x="3524" y="373009"/>
                  </a:lnTo>
                  <a:lnTo>
                    <a:pt x="0" y="324992"/>
                  </a:lnTo>
                  <a:lnTo>
                    <a:pt x="3524" y="276976"/>
                  </a:lnTo>
                  <a:lnTo>
                    <a:pt x="13762" y="231144"/>
                  </a:lnTo>
                  <a:lnTo>
                    <a:pt x="30211" y="188000"/>
                  </a:lnTo>
                  <a:lnTo>
                    <a:pt x="52367" y="148047"/>
                  </a:lnTo>
                  <a:lnTo>
                    <a:pt x="79728" y="111789"/>
                  </a:lnTo>
                  <a:lnTo>
                    <a:pt x="111789" y="79728"/>
                  </a:lnTo>
                  <a:lnTo>
                    <a:pt x="148047" y="52367"/>
                  </a:lnTo>
                  <a:lnTo>
                    <a:pt x="188000" y="30211"/>
                  </a:lnTo>
                  <a:lnTo>
                    <a:pt x="231144" y="13762"/>
                  </a:lnTo>
                  <a:lnTo>
                    <a:pt x="276976" y="3524"/>
                  </a:lnTo>
                  <a:lnTo>
                    <a:pt x="324992" y="0"/>
                  </a:lnTo>
                  <a:lnTo>
                    <a:pt x="373009" y="3524"/>
                  </a:lnTo>
                  <a:lnTo>
                    <a:pt x="418841" y="13762"/>
                  </a:lnTo>
                  <a:lnTo>
                    <a:pt x="461985" y="30211"/>
                  </a:lnTo>
                  <a:lnTo>
                    <a:pt x="501938" y="52367"/>
                  </a:lnTo>
                  <a:lnTo>
                    <a:pt x="538196" y="79728"/>
                  </a:lnTo>
                  <a:lnTo>
                    <a:pt x="570257" y="111789"/>
                  </a:lnTo>
                  <a:lnTo>
                    <a:pt x="597618" y="148047"/>
                  </a:lnTo>
                  <a:lnTo>
                    <a:pt x="619774" y="188000"/>
                  </a:lnTo>
                  <a:lnTo>
                    <a:pt x="636223" y="231144"/>
                  </a:lnTo>
                  <a:lnTo>
                    <a:pt x="646461" y="276976"/>
                  </a:lnTo>
                  <a:lnTo>
                    <a:pt x="649985" y="324992"/>
                  </a:lnTo>
                  <a:lnTo>
                    <a:pt x="646461" y="373009"/>
                  </a:lnTo>
                  <a:lnTo>
                    <a:pt x="636223" y="418841"/>
                  </a:lnTo>
                  <a:lnTo>
                    <a:pt x="619774" y="461985"/>
                  </a:lnTo>
                  <a:lnTo>
                    <a:pt x="597618" y="501938"/>
                  </a:lnTo>
                  <a:lnTo>
                    <a:pt x="570257" y="538196"/>
                  </a:lnTo>
                  <a:lnTo>
                    <a:pt x="538196" y="570257"/>
                  </a:lnTo>
                  <a:lnTo>
                    <a:pt x="501938" y="597618"/>
                  </a:lnTo>
                  <a:lnTo>
                    <a:pt x="461985" y="619774"/>
                  </a:lnTo>
                  <a:lnTo>
                    <a:pt x="418841" y="636223"/>
                  </a:lnTo>
                  <a:lnTo>
                    <a:pt x="373009" y="646461"/>
                  </a:lnTo>
                  <a:lnTo>
                    <a:pt x="324992" y="649985"/>
                  </a:lnTo>
                  <a:close/>
                </a:path>
              </a:pathLst>
            </a:custGeom>
            <a:solidFill>
              <a:srgbClr val="531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052819" y="3574415"/>
            <a:ext cx="131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13395" y="3498595"/>
            <a:ext cx="1143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11726"/>
                </a:solidFill>
                <a:latin typeface="Arial"/>
                <a:cs typeface="Arial"/>
              </a:rPr>
              <a:t>PROCESS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17867" y="4362894"/>
            <a:ext cx="407606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FastAPI</a:t>
            </a:r>
            <a:r>
              <a:rPr sz="2000" spc="-6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dispatches</a:t>
            </a:r>
            <a:r>
              <a:rPr sz="2000" spc="-5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the</a:t>
            </a:r>
            <a:r>
              <a:rPr sz="2000" spc="-5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job</a:t>
            </a:r>
            <a:r>
              <a:rPr sz="2000" spc="-5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to</a:t>
            </a:r>
            <a:r>
              <a:rPr sz="2000" spc="-5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F2937"/>
                </a:solidFill>
                <a:latin typeface="Arial"/>
                <a:cs typeface="Arial"/>
              </a:rPr>
              <a:t>native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C++</a:t>
            </a:r>
            <a:r>
              <a:rPr sz="2000" spc="-5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engines,</a:t>
            </a:r>
            <a:r>
              <a:rPr sz="2000" spc="-5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1F2937"/>
                </a:solidFill>
                <a:latin typeface="Arial"/>
                <a:cs typeface="Arial"/>
              </a:rPr>
              <a:t>D-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Wave</a:t>
            </a:r>
            <a:r>
              <a:rPr sz="2000" spc="-5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Neal,</a:t>
            </a:r>
            <a:r>
              <a:rPr sz="2000" spc="-4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or</a:t>
            </a:r>
            <a:r>
              <a:rPr sz="2000" spc="-5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1F2937"/>
                </a:solidFill>
                <a:latin typeface="Arial"/>
                <a:cs typeface="Arial"/>
              </a:rPr>
              <a:t>our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modern</a:t>
            </a:r>
            <a:r>
              <a:rPr sz="2000" spc="-6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F2937"/>
                </a:solidFill>
                <a:latin typeface="Arial"/>
                <a:cs typeface="Arial"/>
              </a:rPr>
              <a:t>Gate-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Based</a:t>
            </a:r>
            <a:r>
              <a:rPr sz="2000" spc="-6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Qiskit</a:t>
            </a:r>
            <a:r>
              <a:rPr sz="2000" spc="-6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1F2937"/>
                </a:solidFill>
                <a:latin typeface="Arial"/>
                <a:cs typeface="Arial"/>
              </a:rPr>
              <a:t>QAOA </a:t>
            </a:r>
            <a:r>
              <a:rPr sz="2000" spc="-10" dirty="0">
                <a:solidFill>
                  <a:srgbClr val="1F2937"/>
                </a:solidFill>
                <a:latin typeface="Arial"/>
                <a:cs typeface="Arial"/>
              </a:rPr>
              <a:t>engine.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34749" y="4061713"/>
            <a:ext cx="19050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spc="-50" dirty="0">
                <a:solidFill>
                  <a:srgbClr val="007CC2"/>
                </a:solidFill>
                <a:latin typeface="Arial"/>
                <a:cs typeface="Arial"/>
              </a:rPr>
              <a:t>›</a:t>
            </a:r>
            <a:endParaRPr sz="39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090653" y="3147801"/>
            <a:ext cx="5046345" cy="3055620"/>
            <a:chOff x="12090653" y="3147801"/>
            <a:chExt cx="5046345" cy="3055620"/>
          </a:xfrm>
        </p:grpSpPr>
        <p:sp>
          <p:nvSpPr>
            <p:cNvPr id="22" name="object 22"/>
            <p:cNvSpPr/>
            <p:nvPr/>
          </p:nvSpPr>
          <p:spPr>
            <a:xfrm>
              <a:off x="12113514" y="3170681"/>
              <a:ext cx="4999990" cy="3013075"/>
            </a:xfrm>
            <a:custGeom>
              <a:avLst/>
              <a:gdLst/>
              <a:ahLst/>
              <a:cxnLst/>
              <a:rect l="l" t="t" r="r" b="b"/>
              <a:pathLst>
                <a:path w="4999990" h="3013075">
                  <a:moveTo>
                    <a:pt x="4932616" y="3012948"/>
                  </a:moveTo>
                  <a:lnTo>
                    <a:pt x="69151" y="3012948"/>
                  </a:lnTo>
                  <a:lnTo>
                    <a:pt x="42233" y="3007514"/>
                  </a:lnTo>
                  <a:lnTo>
                    <a:pt x="20252" y="2992695"/>
                  </a:lnTo>
                  <a:lnTo>
                    <a:pt x="5433" y="2970715"/>
                  </a:lnTo>
                  <a:lnTo>
                    <a:pt x="0" y="2943796"/>
                  </a:lnTo>
                  <a:lnTo>
                    <a:pt x="0" y="69151"/>
                  </a:lnTo>
                  <a:lnTo>
                    <a:pt x="5433" y="42233"/>
                  </a:lnTo>
                  <a:lnTo>
                    <a:pt x="20252" y="20252"/>
                  </a:lnTo>
                  <a:lnTo>
                    <a:pt x="42233" y="5433"/>
                  </a:lnTo>
                  <a:lnTo>
                    <a:pt x="69151" y="0"/>
                  </a:lnTo>
                  <a:lnTo>
                    <a:pt x="4932616" y="0"/>
                  </a:lnTo>
                  <a:lnTo>
                    <a:pt x="4959535" y="5433"/>
                  </a:lnTo>
                  <a:lnTo>
                    <a:pt x="4981515" y="20252"/>
                  </a:lnTo>
                  <a:lnTo>
                    <a:pt x="4996334" y="42233"/>
                  </a:lnTo>
                  <a:lnTo>
                    <a:pt x="4999402" y="57432"/>
                  </a:lnTo>
                  <a:lnTo>
                    <a:pt x="4999402" y="2955515"/>
                  </a:lnTo>
                  <a:lnTo>
                    <a:pt x="4996334" y="2970715"/>
                  </a:lnTo>
                  <a:lnTo>
                    <a:pt x="4981515" y="2992695"/>
                  </a:lnTo>
                  <a:lnTo>
                    <a:pt x="4959535" y="3007514"/>
                  </a:lnTo>
                  <a:lnTo>
                    <a:pt x="4932616" y="3012948"/>
                  </a:lnTo>
                  <a:close/>
                </a:path>
              </a:pathLst>
            </a:custGeom>
            <a:solidFill>
              <a:srgbClr val="EFF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113513" y="3170661"/>
              <a:ext cx="5000625" cy="3009900"/>
            </a:xfrm>
            <a:custGeom>
              <a:avLst/>
              <a:gdLst/>
              <a:ahLst/>
              <a:cxnLst/>
              <a:rect l="l" t="t" r="r" b="b"/>
              <a:pathLst>
                <a:path w="5000625" h="3009900">
                  <a:moveTo>
                    <a:pt x="5000530" y="2949461"/>
                  </a:moveTo>
                  <a:lnTo>
                    <a:pt x="4996332" y="2970738"/>
                  </a:lnTo>
                  <a:lnTo>
                    <a:pt x="4981472" y="2992745"/>
                  </a:lnTo>
                  <a:lnTo>
                    <a:pt x="4959492" y="3007563"/>
                  </a:lnTo>
                  <a:lnTo>
                    <a:pt x="4947697" y="3009830"/>
                  </a:lnTo>
                </a:path>
                <a:path w="5000625" h="3009900">
                  <a:moveTo>
                    <a:pt x="54057" y="3009889"/>
                  </a:moveTo>
                  <a:lnTo>
                    <a:pt x="42235" y="3007522"/>
                  </a:lnTo>
                  <a:lnTo>
                    <a:pt x="20222" y="2992671"/>
                  </a:lnTo>
                  <a:lnTo>
                    <a:pt x="5420" y="2970669"/>
                  </a:lnTo>
                  <a:lnTo>
                    <a:pt x="0" y="2943747"/>
                  </a:lnTo>
                  <a:lnTo>
                    <a:pt x="0" y="69169"/>
                  </a:lnTo>
                  <a:lnTo>
                    <a:pt x="20258" y="20269"/>
                  </a:lnTo>
                  <a:lnTo>
                    <a:pt x="69158" y="21"/>
                  </a:lnTo>
                  <a:lnTo>
                    <a:pt x="4932511" y="0"/>
                  </a:lnTo>
                  <a:lnTo>
                    <a:pt x="4959459" y="5403"/>
                  </a:lnTo>
                  <a:lnTo>
                    <a:pt x="4981480" y="20222"/>
                  </a:lnTo>
                  <a:lnTo>
                    <a:pt x="4996306" y="42197"/>
                  </a:lnTo>
                  <a:lnTo>
                    <a:pt x="5000540" y="63526"/>
                  </a:lnTo>
                </a:path>
              </a:pathLst>
            </a:custGeom>
            <a:ln w="45719">
              <a:solidFill>
                <a:srgbClr val="62A7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362306" y="3460623"/>
              <a:ext cx="650240" cy="650240"/>
            </a:xfrm>
            <a:custGeom>
              <a:avLst/>
              <a:gdLst/>
              <a:ahLst/>
              <a:cxnLst/>
              <a:rect l="l" t="t" r="r" b="b"/>
              <a:pathLst>
                <a:path w="650240" h="650239">
                  <a:moveTo>
                    <a:pt x="324992" y="649985"/>
                  </a:moveTo>
                  <a:lnTo>
                    <a:pt x="276976" y="646461"/>
                  </a:lnTo>
                  <a:lnTo>
                    <a:pt x="231144" y="636223"/>
                  </a:lnTo>
                  <a:lnTo>
                    <a:pt x="188000" y="619774"/>
                  </a:lnTo>
                  <a:lnTo>
                    <a:pt x="148047" y="597618"/>
                  </a:lnTo>
                  <a:lnTo>
                    <a:pt x="111789" y="570257"/>
                  </a:lnTo>
                  <a:lnTo>
                    <a:pt x="79728" y="538196"/>
                  </a:lnTo>
                  <a:lnTo>
                    <a:pt x="52367" y="501938"/>
                  </a:lnTo>
                  <a:lnTo>
                    <a:pt x="30211" y="461985"/>
                  </a:lnTo>
                  <a:lnTo>
                    <a:pt x="13762" y="418841"/>
                  </a:lnTo>
                  <a:lnTo>
                    <a:pt x="3524" y="373009"/>
                  </a:lnTo>
                  <a:lnTo>
                    <a:pt x="0" y="324992"/>
                  </a:lnTo>
                  <a:lnTo>
                    <a:pt x="3524" y="276976"/>
                  </a:lnTo>
                  <a:lnTo>
                    <a:pt x="13762" y="231144"/>
                  </a:lnTo>
                  <a:lnTo>
                    <a:pt x="30211" y="188000"/>
                  </a:lnTo>
                  <a:lnTo>
                    <a:pt x="52367" y="148047"/>
                  </a:lnTo>
                  <a:lnTo>
                    <a:pt x="79728" y="111789"/>
                  </a:lnTo>
                  <a:lnTo>
                    <a:pt x="111789" y="79728"/>
                  </a:lnTo>
                  <a:lnTo>
                    <a:pt x="148047" y="52367"/>
                  </a:lnTo>
                  <a:lnTo>
                    <a:pt x="188000" y="30211"/>
                  </a:lnTo>
                  <a:lnTo>
                    <a:pt x="231144" y="13762"/>
                  </a:lnTo>
                  <a:lnTo>
                    <a:pt x="276976" y="3524"/>
                  </a:lnTo>
                  <a:lnTo>
                    <a:pt x="324992" y="0"/>
                  </a:lnTo>
                  <a:lnTo>
                    <a:pt x="373009" y="3524"/>
                  </a:lnTo>
                  <a:lnTo>
                    <a:pt x="418841" y="13762"/>
                  </a:lnTo>
                  <a:lnTo>
                    <a:pt x="461985" y="30211"/>
                  </a:lnTo>
                  <a:lnTo>
                    <a:pt x="501938" y="52367"/>
                  </a:lnTo>
                  <a:lnTo>
                    <a:pt x="538196" y="79728"/>
                  </a:lnTo>
                  <a:lnTo>
                    <a:pt x="570257" y="111789"/>
                  </a:lnTo>
                  <a:lnTo>
                    <a:pt x="597618" y="148047"/>
                  </a:lnTo>
                  <a:lnTo>
                    <a:pt x="619774" y="188000"/>
                  </a:lnTo>
                  <a:lnTo>
                    <a:pt x="636223" y="231144"/>
                  </a:lnTo>
                  <a:lnTo>
                    <a:pt x="646461" y="276976"/>
                  </a:lnTo>
                  <a:lnTo>
                    <a:pt x="649985" y="324992"/>
                  </a:lnTo>
                  <a:lnTo>
                    <a:pt x="646461" y="373009"/>
                  </a:lnTo>
                  <a:lnTo>
                    <a:pt x="636223" y="418841"/>
                  </a:lnTo>
                  <a:lnTo>
                    <a:pt x="619774" y="461985"/>
                  </a:lnTo>
                  <a:lnTo>
                    <a:pt x="597618" y="501938"/>
                  </a:lnTo>
                  <a:lnTo>
                    <a:pt x="570257" y="538196"/>
                  </a:lnTo>
                  <a:lnTo>
                    <a:pt x="538196" y="570257"/>
                  </a:lnTo>
                  <a:lnTo>
                    <a:pt x="501938" y="597618"/>
                  </a:lnTo>
                  <a:lnTo>
                    <a:pt x="461985" y="619774"/>
                  </a:lnTo>
                  <a:lnTo>
                    <a:pt x="418841" y="636223"/>
                  </a:lnTo>
                  <a:lnTo>
                    <a:pt x="373009" y="646461"/>
                  </a:lnTo>
                  <a:lnTo>
                    <a:pt x="324992" y="649985"/>
                  </a:lnTo>
                  <a:close/>
                </a:path>
              </a:pathLst>
            </a:custGeom>
            <a:solidFill>
              <a:srgbClr val="62A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621515" y="3574415"/>
            <a:ext cx="1314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182091" y="3498595"/>
            <a:ext cx="965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11726"/>
                </a:solidFill>
                <a:latin typeface="Arial"/>
                <a:cs typeface="Arial"/>
              </a:rPr>
              <a:t>OUTPUT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386563" y="4362894"/>
            <a:ext cx="440118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Animated</a:t>
            </a:r>
            <a:r>
              <a:rPr sz="2000" spc="-8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board</a:t>
            </a:r>
            <a:r>
              <a:rPr sz="2000" spc="-8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and</a:t>
            </a:r>
            <a:r>
              <a:rPr sz="2000" spc="-8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timeline</a:t>
            </a:r>
            <a:r>
              <a:rPr sz="2000" spc="-7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1F2937"/>
                </a:solidFill>
                <a:latin typeface="Arial"/>
                <a:cs typeface="Arial"/>
              </a:rPr>
              <a:t>per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solver,</a:t>
            </a:r>
            <a:r>
              <a:rPr sz="2000" spc="-5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with</a:t>
            </a:r>
            <a:r>
              <a:rPr sz="2000" spc="-5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steps,</a:t>
            </a:r>
            <a:r>
              <a:rPr sz="2000" spc="-5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time,</a:t>
            </a:r>
            <a:r>
              <a:rPr sz="2000" spc="-5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energy,</a:t>
            </a:r>
            <a:r>
              <a:rPr sz="2000" spc="-5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1F2937"/>
                </a:solidFill>
                <a:latin typeface="Arial"/>
                <a:cs typeface="Arial"/>
              </a:rPr>
              <a:t>and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dynamic</a:t>
            </a:r>
            <a:r>
              <a:rPr sz="2000" spc="-6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F2937"/>
                </a:solidFill>
                <a:latin typeface="Arial"/>
                <a:cs typeface="Arial"/>
              </a:rPr>
              <a:t>engineering</a:t>
            </a:r>
            <a:r>
              <a:rPr sz="2000" spc="-6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F2937"/>
                </a:solidFill>
                <a:latin typeface="Arial"/>
                <a:cs typeface="Arial"/>
              </a:rPr>
              <a:t>commentary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generated</a:t>
            </a:r>
            <a:r>
              <a:rPr sz="2000" spc="-7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by</a:t>
            </a:r>
            <a:r>
              <a:rPr sz="2000" spc="-6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the</a:t>
            </a:r>
            <a:r>
              <a:rPr sz="2000" spc="-7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Qualcomm</a:t>
            </a:r>
            <a:r>
              <a:rPr sz="2000" spc="-6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Cloud</a:t>
            </a:r>
            <a:r>
              <a:rPr sz="2000" spc="-6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1F2937"/>
                </a:solidFill>
                <a:latin typeface="Arial"/>
                <a:cs typeface="Arial"/>
              </a:rPr>
              <a:t>AI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Referee</a:t>
            </a:r>
            <a:r>
              <a:rPr sz="2000" spc="-7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based</a:t>
            </a:r>
            <a:r>
              <a:rPr sz="2000" spc="-7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on</a:t>
            </a:r>
            <a:r>
              <a:rPr sz="2000" spc="-7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live</a:t>
            </a:r>
            <a:r>
              <a:rPr sz="2000" spc="-6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2937"/>
                </a:solidFill>
                <a:latin typeface="Arial"/>
                <a:cs typeface="Arial"/>
              </a:rPr>
              <a:t>execution</a:t>
            </a:r>
            <a:r>
              <a:rPr sz="2000" spc="-70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F2937"/>
                </a:solidFill>
                <a:latin typeface="Arial"/>
                <a:cs typeface="Arial"/>
              </a:rPr>
              <a:t>times.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03471" y="6383654"/>
            <a:ext cx="16383000" cy="2202180"/>
            <a:chOff x="803471" y="6383654"/>
            <a:chExt cx="16383000" cy="2202180"/>
          </a:xfrm>
        </p:grpSpPr>
        <p:sp>
          <p:nvSpPr>
            <p:cNvPr id="29" name="object 29"/>
            <p:cNvSpPr/>
            <p:nvPr/>
          </p:nvSpPr>
          <p:spPr>
            <a:xfrm>
              <a:off x="910483" y="6402704"/>
              <a:ext cx="16257269" cy="1038225"/>
            </a:xfrm>
            <a:custGeom>
              <a:avLst/>
              <a:gdLst/>
              <a:ahLst/>
              <a:cxnLst/>
              <a:rect l="l" t="t" r="r" b="b"/>
              <a:pathLst>
                <a:path w="16257269" h="1038225">
                  <a:moveTo>
                    <a:pt x="59646" y="1038224"/>
                  </a:moveTo>
                  <a:lnTo>
                    <a:pt x="42896" y="1034168"/>
                  </a:lnTo>
                  <a:lnTo>
                    <a:pt x="20569" y="1016143"/>
                  </a:lnTo>
                  <a:lnTo>
                    <a:pt x="5533" y="989475"/>
                  </a:lnTo>
                  <a:lnTo>
                    <a:pt x="0" y="956837"/>
                  </a:lnTo>
                  <a:lnTo>
                    <a:pt x="0" y="83917"/>
                  </a:lnTo>
                  <a:lnTo>
                    <a:pt x="5515" y="51275"/>
                  </a:lnTo>
                  <a:lnTo>
                    <a:pt x="20547" y="24599"/>
                  </a:lnTo>
                  <a:lnTo>
                    <a:pt x="42830" y="6602"/>
                  </a:lnTo>
                  <a:lnTo>
                    <a:pt x="70094" y="0"/>
                  </a:lnTo>
                  <a:lnTo>
                    <a:pt x="16186560" y="0"/>
                  </a:lnTo>
                  <a:lnTo>
                    <a:pt x="16236144" y="24599"/>
                  </a:lnTo>
                  <a:lnTo>
                    <a:pt x="16256656" y="83917"/>
                  </a:lnTo>
                  <a:lnTo>
                    <a:pt x="16256656" y="956837"/>
                  </a:lnTo>
                  <a:lnTo>
                    <a:pt x="16251141" y="989526"/>
                  </a:lnTo>
                  <a:lnTo>
                    <a:pt x="16236108" y="1016198"/>
                  </a:lnTo>
                  <a:lnTo>
                    <a:pt x="16213825" y="1034168"/>
                  </a:lnTo>
                  <a:lnTo>
                    <a:pt x="16197034" y="1038224"/>
                  </a:lnTo>
                </a:path>
              </a:pathLst>
            </a:custGeom>
            <a:ln w="38100">
              <a:solidFill>
                <a:srgbClr val="DBE4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22521" y="7509462"/>
              <a:ext cx="16304260" cy="1059180"/>
            </a:xfrm>
            <a:custGeom>
              <a:avLst/>
              <a:gdLst/>
              <a:ahLst/>
              <a:cxnLst/>
              <a:rect l="l" t="t" r="r" b="b"/>
              <a:pathLst>
                <a:path w="16304260" h="1059179">
                  <a:moveTo>
                    <a:pt x="16243457" y="1058894"/>
                  </a:moveTo>
                  <a:lnTo>
                    <a:pt x="60483" y="1058894"/>
                  </a:lnTo>
                  <a:lnTo>
                    <a:pt x="36928" y="1054144"/>
                  </a:lnTo>
                  <a:lnTo>
                    <a:pt x="17704" y="1041189"/>
                  </a:lnTo>
                  <a:lnTo>
                    <a:pt x="4749" y="1021965"/>
                  </a:lnTo>
                  <a:lnTo>
                    <a:pt x="0" y="998410"/>
                  </a:lnTo>
                  <a:lnTo>
                    <a:pt x="0" y="60483"/>
                  </a:lnTo>
                  <a:lnTo>
                    <a:pt x="4749" y="36928"/>
                  </a:lnTo>
                  <a:lnTo>
                    <a:pt x="17704" y="17704"/>
                  </a:lnTo>
                  <a:lnTo>
                    <a:pt x="36928" y="4749"/>
                  </a:lnTo>
                  <a:lnTo>
                    <a:pt x="60483" y="0"/>
                  </a:lnTo>
                  <a:lnTo>
                    <a:pt x="16243457" y="0"/>
                  </a:lnTo>
                  <a:lnTo>
                    <a:pt x="16267012" y="4749"/>
                  </a:lnTo>
                  <a:lnTo>
                    <a:pt x="16286237" y="17704"/>
                  </a:lnTo>
                  <a:lnTo>
                    <a:pt x="16299193" y="36928"/>
                  </a:lnTo>
                  <a:lnTo>
                    <a:pt x="16303942" y="60483"/>
                  </a:lnTo>
                  <a:lnTo>
                    <a:pt x="16303942" y="998410"/>
                  </a:lnTo>
                  <a:lnTo>
                    <a:pt x="16299193" y="1021965"/>
                  </a:lnTo>
                  <a:lnTo>
                    <a:pt x="16286237" y="1041189"/>
                  </a:lnTo>
                  <a:lnTo>
                    <a:pt x="16267012" y="1054144"/>
                  </a:lnTo>
                  <a:lnTo>
                    <a:pt x="16243457" y="105889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22521" y="7509462"/>
              <a:ext cx="16304260" cy="1057275"/>
            </a:xfrm>
            <a:custGeom>
              <a:avLst/>
              <a:gdLst/>
              <a:ahLst/>
              <a:cxnLst/>
              <a:rect l="l" t="t" r="r" b="b"/>
              <a:pathLst>
                <a:path w="16304260" h="1057275">
                  <a:moveTo>
                    <a:pt x="52453" y="1057273"/>
                  </a:moveTo>
                  <a:lnTo>
                    <a:pt x="17703" y="1041187"/>
                  </a:lnTo>
                  <a:lnTo>
                    <a:pt x="0" y="998407"/>
                  </a:lnTo>
                  <a:lnTo>
                    <a:pt x="0" y="60484"/>
                  </a:lnTo>
                  <a:lnTo>
                    <a:pt x="4748" y="36929"/>
                  </a:lnTo>
                  <a:lnTo>
                    <a:pt x="17704" y="17705"/>
                  </a:lnTo>
                  <a:lnTo>
                    <a:pt x="36928" y="4749"/>
                  </a:lnTo>
                  <a:lnTo>
                    <a:pt x="60483" y="0"/>
                  </a:lnTo>
                  <a:lnTo>
                    <a:pt x="16243393" y="0"/>
                  </a:lnTo>
                  <a:lnTo>
                    <a:pt x="16266969" y="4719"/>
                  </a:lnTo>
                  <a:lnTo>
                    <a:pt x="16286218" y="17675"/>
                  </a:lnTo>
                  <a:lnTo>
                    <a:pt x="16299178" y="36896"/>
                  </a:lnTo>
                  <a:lnTo>
                    <a:pt x="16303943" y="60484"/>
                  </a:lnTo>
                  <a:lnTo>
                    <a:pt x="16303941" y="998420"/>
                  </a:lnTo>
                  <a:lnTo>
                    <a:pt x="16299174" y="1021994"/>
                  </a:lnTo>
                  <a:lnTo>
                    <a:pt x="16286194" y="1041219"/>
                  </a:lnTo>
                  <a:lnTo>
                    <a:pt x="16266951" y="1054157"/>
                  </a:lnTo>
                  <a:lnTo>
                    <a:pt x="16251486" y="1057259"/>
                  </a:lnTo>
                </a:path>
              </a:pathLst>
            </a:custGeom>
            <a:ln w="38099">
              <a:solidFill>
                <a:srgbClr val="DBE4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67089" y="7506785"/>
              <a:ext cx="137795" cy="1059180"/>
            </a:xfrm>
            <a:custGeom>
              <a:avLst/>
              <a:gdLst/>
              <a:ahLst/>
              <a:cxnLst/>
              <a:rect l="l" t="t" r="r" b="b"/>
              <a:pathLst>
                <a:path w="137794" h="1059179">
                  <a:moveTo>
                    <a:pt x="137779" y="1059177"/>
                  </a:moveTo>
                  <a:lnTo>
                    <a:pt x="0" y="1059177"/>
                  </a:lnTo>
                  <a:lnTo>
                    <a:pt x="0" y="0"/>
                  </a:lnTo>
                  <a:lnTo>
                    <a:pt x="137779" y="0"/>
                  </a:lnTo>
                  <a:lnTo>
                    <a:pt x="137779" y="1059177"/>
                  </a:lnTo>
                  <a:close/>
                </a:path>
              </a:pathLst>
            </a:custGeom>
            <a:solidFill>
              <a:srgbClr val="007C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67089" y="7507219"/>
              <a:ext cx="133350" cy="1057275"/>
            </a:xfrm>
            <a:custGeom>
              <a:avLst/>
              <a:gdLst/>
              <a:ahLst/>
              <a:cxnLst/>
              <a:rect l="l" t="t" r="r" b="b"/>
              <a:pathLst>
                <a:path w="133350" h="1057275">
                  <a:moveTo>
                    <a:pt x="0" y="1056841"/>
                  </a:moveTo>
                  <a:lnTo>
                    <a:pt x="0" y="0"/>
                  </a:lnTo>
                  <a:lnTo>
                    <a:pt x="133350" y="0"/>
                  </a:lnTo>
                </a:path>
              </a:pathLst>
            </a:custGeom>
            <a:ln w="38099">
              <a:solidFill>
                <a:srgbClr val="007C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106925" y="7821421"/>
            <a:ext cx="1803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0" dirty="0">
                <a:solidFill>
                  <a:srgbClr val="007CC2"/>
                </a:solidFill>
                <a:latin typeface="Arial"/>
                <a:cs typeface="Arial"/>
              </a:rPr>
              <a:t>WHAT</a:t>
            </a:r>
            <a:r>
              <a:rPr sz="1800" b="1" spc="280" dirty="0">
                <a:solidFill>
                  <a:srgbClr val="007CC2"/>
                </a:solidFill>
                <a:latin typeface="Arial"/>
                <a:cs typeface="Arial"/>
              </a:rPr>
              <a:t> </a:t>
            </a:r>
            <a:r>
              <a:rPr sz="1800" b="1" spc="60" dirty="0">
                <a:solidFill>
                  <a:srgbClr val="007CC2"/>
                </a:solidFill>
                <a:latin typeface="Arial"/>
                <a:cs typeface="Arial"/>
              </a:rPr>
              <a:t>TO</a:t>
            </a:r>
            <a:r>
              <a:rPr sz="1800" b="1" spc="285" dirty="0">
                <a:solidFill>
                  <a:srgbClr val="007CC2"/>
                </a:solidFill>
                <a:latin typeface="Arial"/>
                <a:cs typeface="Arial"/>
              </a:rPr>
              <a:t> </a:t>
            </a:r>
            <a:r>
              <a:rPr sz="1800" b="1" spc="60" dirty="0">
                <a:solidFill>
                  <a:srgbClr val="007CC2"/>
                </a:solidFill>
                <a:latin typeface="Arial"/>
                <a:cs typeface="Arial"/>
              </a:rPr>
              <a:t>SAY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220478" y="7860452"/>
            <a:ext cx="66675" cy="333375"/>
            <a:chOff x="3220478" y="7860452"/>
            <a:chExt cx="66675" cy="333375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0478" y="7860452"/>
              <a:ext cx="66675" cy="6667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0478" y="8127152"/>
              <a:ext cx="66675" cy="66674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3409589" y="7723927"/>
            <a:ext cx="1087755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Walk</a:t>
            </a:r>
            <a:r>
              <a:rPr sz="1800" spc="-20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one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journey: choose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8-Queens,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predict the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winner, then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watch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the race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play </a:t>
            </a:r>
            <a:r>
              <a:rPr sz="1800" spc="-20" dirty="0">
                <a:solidFill>
                  <a:srgbClr val="111726"/>
                </a:solidFill>
                <a:latin typeface="Arial"/>
                <a:cs typeface="Arial"/>
              </a:rPr>
              <a:t>out.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30"/>
              </a:lnSpc>
            </a:pP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The prototype proves the API, C++ engines and offline mode work today; QPU runs use standalone </a:t>
            </a:r>
            <a:r>
              <a:rPr sz="1800" spc="-10" dirty="0">
                <a:solidFill>
                  <a:srgbClr val="111726"/>
                </a:solidFill>
                <a:latin typeface="Arial"/>
                <a:cs typeface="Arial"/>
              </a:rPr>
              <a:t>scripts.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085"/>
              </a:lnSpc>
            </a:pPr>
            <a:r>
              <a:rPr dirty="0"/>
              <a:t>© 2026 Infosys Limited. All rights </a:t>
            </a:r>
            <a:r>
              <a:rPr spc="-10" dirty="0"/>
              <a:t>reserved.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9" name="object 39"/>
          <p:cNvSpPr txBox="1"/>
          <p:nvPr/>
        </p:nvSpPr>
        <p:spPr>
          <a:xfrm>
            <a:off x="1057147" y="6501588"/>
            <a:ext cx="10545445" cy="808355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800" b="1" spc="90" dirty="0">
                <a:solidFill>
                  <a:srgbClr val="F18B28"/>
                </a:solidFill>
                <a:latin typeface="Arial"/>
                <a:cs typeface="Arial"/>
              </a:rPr>
              <a:t>KEY</a:t>
            </a:r>
            <a:r>
              <a:rPr sz="1800" b="1" spc="290" dirty="0">
                <a:solidFill>
                  <a:srgbClr val="F18B28"/>
                </a:solidFill>
                <a:latin typeface="Arial"/>
                <a:cs typeface="Arial"/>
              </a:rPr>
              <a:t> </a:t>
            </a:r>
            <a:r>
              <a:rPr sz="1800" b="1" spc="105" dirty="0">
                <a:solidFill>
                  <a:srgbClr val="F18B28"/>
                </a:solidFill>
                <a:latin typeface="Arial"/>
                <a:cs typeface="Arial"/>
              </a:rPr>
              <a:t>VALUE</a:t>
            </a:r>
            <a:r>
              <a:rPr sz="1800" b="1" spc="305" dirty="0">
                <a:solidFill>
                  <a:srgbClr val="F18B2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18B28"/>
                </a:solidFill>
                <a:latin typeface="Arial"/>
                <a:cs typeface="Arial"/>
              </a:rPr>
              <a:t>/</a:t>
            </a:r>
            <a:r>
              <a:rPr sz="1800" b="1" spc="305" dirty="0">
                <a:solidFill>
                  <a:srgbClr val="F18B28"/>
                </a:solidFill>
                <a:latin typeface="Arial"/>
                <a:cs typeface="Arial"/>
              </a:rPr>
              <a:t> </a:t>
            </a:r>
            <a:r>
              <a:rPr sz="1800" b="1" spc="114" dirty="0">
                <a:solidFill>
                  <a:srgbClr val="F18B28"/>
                </a:solidFill>
                <a:latin typeface="Arial"/>
                <a:cs typeface="Arial"/>
              </a:rPr>
              <a:t>DIFFERENTIATOR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Fair, reproducible head-to-head races with live telemetry, plus a real IBM QPU (QAOA) verification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path.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7354" rIns="0" bIns="0" rtlCol="0">
            <a:spAutoFit/>
          </a:bodyPr>
          <a:lstStyle/>
          <a:p>
            <a:pPr marL="67310">
              <a:lnSpc>
                <a:spcPts val="4750"/>
              </a:lnSpc>
              <a:spcBef>
                <a:spcPts val="100"/>
              </a:spcBef>
            </a:pPr>
            <a:r>
              <a:rPr spc="85" dirty="0"/>
              <a:t>Architecture</a:t>
            </a:r>
            <a:r>
              <a:rPr spc="-80" dirty="0"/>
              <a:t> </a:t>
            </a:r>
            <a:r>
              <a:rPr spc="-170" dirty="0"/>
              <a:t>&amp;</a:t>
            </a:r>
            <a:r>
              <a:rPr spc="-80" dirty="0"/>
              <a:t> </a:t>
            </a:r>
            <a:r>
              <a:rPr spc="160" dirty="0"/>
              <a:t>Technical</a:t>
            </a:r>
            <a:r>
              <a:rPr spc="-80" dirty="0"/>
              <a:t> </a:t>
            </a:r>
            <a:r>
              <a:rPr spc="140" dirty="0"/>
              <a:t>Design</a:t>
            </a:r>
          </a:p>
          <a:p>
            <a:pPr marL="67310">
              <a:lnSpc>
                <a:spcPts val="2110"/>
              </a:lnSpc>
            </a:pPr>
            <a:r>
              <a:rPr sz="1800" dirty="0">
                <a:solidFill>
                  <a:srgbClr val="5B6573"/>
                </a:solidFill>
                <a:latin typeface="Arial"/>
                <a:cs typeface="Arial"/>
              </a:rPr>
              <a:t>Three tiers: browser UI, local solver API and IBM Quantum </a:t>
            </a:r>
            <a:r>
              <a:rPr sz="1800" spc="-10" dirty="0">
                <a:solidFill>
                  <a:srgbClr val="5B6573"/>
                </a:solidFill>
                <a:latin typeface="Arial"/>
                <a:cs typeface="Arial"/>
              </a:rPr>
              <a:t>cloud.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92683" y="2236828"/>
            <a:ext cx="3453765" cy="2434590"/>
            <a:chOff x="892683" y="2236828"/>
            <a:chExt cx="3453765" cy="2434590"/>
          </a:xfrm>
        </p:grpSpPr>
        <p:sp>
          <p:nvSpPr>
            <p:cNvPr id="4" name="object 4"/>
            <p:cNvSpPr/>
            <p:nvPr/>
          </p:nvSpPr>
          <p:spPr>
            <a:xfrm>
              <a:off x="919352" y="2263521"/>
              <a:ext cx="3401060" cy="2386330"/>
            </a:xfrm>
            <a:custGeom>
              <a:avLst/>
              <a:gdLst/>
              <a:ahLst/>
              <a:cxnLst/>
              <a:rect l="l" t="t" r="r" b="b"/>
              <a:pathLst>
                <a:path w="3401060" h="2386329">
                  <a:moveTo>
                    <a:pt x="3331463" y="2385821"/>
                  </a:moveTo>
                  <a:lnTo>
                    <a:pt x="69341" y="2385821"/>
                  </a:lnTo>
                  <a:lnTo>
                    <a:pt x="42353" y="2380371"/>
                  </a:lnTo>
                  <a:lnTo>
                    <a:pt x="20312" y="2365509"/>
                  </a:lnTo>
                  <a:lnTo>
                    <a:pt x="5450" y="2343468"/>
                  </a:lnTo>
                  <a:lnTo>
                    <a:pt x="0" y="2316479"/>
                  </a:lnTo>
                  <a:lnTo>
                    <a:pt x="0" y="69341"/>
                  </a:lnTo>
                  <a:lnTo>
                    <a:pt x="5450" y="42353"/>
                  </a:lnTo>
                  <a:lnTo>
                    <a:pt x="20312" y="20312"/>
                  </a:lnTo>
                  <a:lnTo>
                    <a:pt x="42353" y="5450"/>
                  </a:lnTo>
                  <a:lnTo>
                    <a:pt x="69341" y="0"/>
                  </a:lnTo>
                  <a:lnTo>
                    <a:pt x="3331463" y="0"/>
                  </a:lnTo>
                  <a:lnTo>
                    <a:pt x="3358452" y="5450"/>
                  </a:lnTo>
                  <a:lnTo>
                    <a:pt x="3380493" y="20312"/>
                  </a:lnTo>
                  <a:lnTo>
                    <a:pt x="3395355" y="42353"/>
                  </a:lnTo>
                  <a:lnTo>
                    <a:pt x="3400805" y="69341"/>
                  </a:lnTo>
                  <a:lnTo>
                    <a:pt x="3400805" y="2316479"/>
                  </a:lnTo>
                  <a:lnTo>
                    <a:pt x="3395355" y="2343468"/>
                  </a:lnTo>
                  <a:lnTo>
                    <a:pt x="3380493" y="2365509"/>
                  </a:lnTo>
                  <a:lnTo>
                    <a:pt x="3358452" y="2380371"/>
                  </a:lnTo>
                  <a:lnTo>
                    <a:pt x="3331463" y="2385821"/>
                  </a:lnTo>
                  <a:close/>
                </a:path>
              </a:pathLst>
            </a:custGeom>
            <a:solidFill>
              <a:srgbClr val="E9F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9353" y="2263498"/>
              <a:ext cx="3400425" cy="2381250"/>
            </a:xfrm>
            <a:custGeom>
              <a:avLst/>
              <a:gdLst/>
              <a:ahLst/>
              <a:cxnLst/>
              <a:rect l="l" t="t" r="r" b="b"/>
              <a:pathLst>
                <a:path w="3400425" h="2381250">
                  <a:moveTo>
                    <a:pt x="3400425" y="2317701"/>
                  </a:moveTo>
                  <a:lnTo>
                    <a:pt x="3395238" y="2343385"/>
                  </a:lnTo>
                  <a:lnTo>
                    <a:pt x="3380377" y="2365426"/>
                  </a:lnTo>
                  <a:lnTo>
                    <a:pt x="3358361" y="2380412"/>
                  </a:lnTo>
                  <a:lnTo>
                    <a:pt x="3354079" y="2381147"/>
                  </a:lnTo>
                </a:path>
                <a:path w="3400425" h="2381250">
                  <a:moveTo>
                    <a:pt x="46705" y="2381254"/>
                  </a:moveTo>
                  <a:lnTo>
                    <a:pt x="42355" y="2380381"/>
                  </a:lnTo>
                  <a:lnTo>
                    <a:pt x="20273" y="2365474"/>
                  </a:lnTo>
                  <a:lnTo>
                    <a:pt x="5412" y="2343434"/>
                  </a:lnTo>
                  <a:lnTo>
                    <a:pt x="0" y="2316398"/>
                  </a:lnTo>
                  <a:lnTo>
                    <a:pt x="1" y="69354"/>
                  </a:lnTo>
                  <a:lnTo>
                    <a:pt x="20335" y="20318"/>
                  </a:lnTo>
                  <a:lnTo>
                    <a:pt x="69373" y="22"/>
                  </a:lnTo>
                  <a:lnTo>
                    <a:pt x="3331353" y="0"/>
                  </a:lnTo>
                  <a:lnTo>
                    <a:pt x="3358372" y="5418"/>
                  </a:lnTo>
                  <a:lnTo>
                    <a:pt x="3380456" y="20279"/>
                  </a:lnTo>
                  <a:lnTo>
                    <a:pt x="3395326" y="42314"/>
                  </a:lnTo>
                  <a:lnTo>
                    <a:pt x="3400320" y="67498"/>
                  </a:lnTo>
                </a:path>
              </a:pathLst>
            </a:custGeom>
            <a:ln w="53339">
              <a:solidFill>
                <a:srgbClr val="007C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97191" y="2612390"/>
            <a:ext cx="204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7CC2"/>
                </a:solidFill>
                <a:latin typeface="Arial"/>
                <a:cs typeface="Arial"/>
              </a:rPr>
              <a:t>USER / </a:t>
            </a:r>
            <a:r>
              <a:rPr sz="1800" b="1" spc="-10" dirty="0">
                <a:solidFill>
                  <a:srgbClr val="007CC2"/>
                </a:solidFill>
                <a:latin typeface="Arial"/>
                <a:cs typeface="Arial"/>
              </a:rPr>
              <a:t>BROWSER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3316" y="3364865"/>
            <a:ext cx="2713355" cy="10998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065" marR="5080" algn="ctr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React 19 + TanStack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Start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UI: Arena,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Challenges,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Learn, Profile. XP and </a:t>
            </a:r>
            <a:r>
              <a:rPr sz="1800" spc="-25" dirty="0">
                <a:solidFill>
                  <a:srgbClr val="1F2937"/>
                </a:solidFill>
                <a:latin typeface="Arial"/>
                <a:cs typeface="Arial"/>
              </a:rPr>
              <a:t>run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history in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context.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74260" y="2961549"/>
            <a:ext cx="551180" cy="798195"/>
            <a:chOff x="4374260" y="2961549"/>
            <a:chExt cx="551180" cy="798195"/>
          </a:xfrm>
        </p:grpSpPr>
        <p:sp>
          <p:nvSpPr>
            <p:cNvPr id="9" name="object 9"/>
            <p:cNvSpPr/>
            <p:nvPr/>
          </p:nvSpPr>
          <p:spPr>
            <a:xfrm>
              <a:off x="4393310" y="2980562"/>
              <a:ext cx="513080" cy="759460"/>
            </a:xfrm>
            <a:custGeom>
              <a:avLst/>
              <a:gdLst/>
              <a:ahLst/>
              <a:cxnLst/>
              <a:rect l="l" t="t" r="r" b="b"/>
              <a:pathLst>
                <a:path w="513079" h="759460">
                  <a:moveTo>
                    <a:pt x="256744" y="759222"/>
                  </a:moveTo>
                  <a:lnTo>
                    <a:pt x="331" y="759222"/>
                  </a:lnTo>
                  <a:lnTo>
                    <a:pt x="256413" y="379856"/>
                  </a:lnTo>
                  <a:lnTo>
                    <a:pt x="0" y="0"/>
                  </a:lnTo>
                  <a:lnTo>
                    <a:pt x="256413" y="0"/>
                  </a:lnTo>
                  <a:lnTo>
                    <a:pt x="512825" y="379856"/>
                  </a:lnTo>
                  <a:lnTo>
                    <a:pt x="256744" y="759222"/>
                  </a:lnTo>
                  <a:close/>
                </a:path>
              </a:pathLst>
            </a:custGeom>
            <a:solidFill>
              <a:srgbClr val="B8C6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93310" y="2980599"/>
              <a:ext cx="513080" cy="760095"/>
            </a:xfrm>
            <a:custGeom>
              <a:avLst/>
              <a:gdLst/>
              <a:ahLst/>
              <a:cxnLst/>
              <a:rect l="l" t="t" r="r" b="b"/>
              <a:pathLst>
                <a:path w="513079" h="760095">
                  <a:moveTo>
                    <a:pt x="0" y="0"/>
                  </a:moveTo>
                  <a:lnTo>
                    <a:pt x="256356" y="0"/>
                  </a:lnTo>
                  <a:lnTo>
                    <a:pt x="512712" y="379773"/>
                  </a:lnTo>
                  <a:lnTo>
                    <a:pt x="256356" y="759546"/>
                  </a:lnTo>
                  <a:lnTo>
                    <a:pt x="0" y="759546"/>
                  </a:lnTo>
                  <a:lnTo>
                    <a:pt x="256356" y="379773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B8C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062347" y="2236828"/>
            <a:ext cx="3453765" cy="2434590"/>
            <a:chOff x="5062347" y="2236828"/>
            <a:chExt cx="3453765" cy="2434590"/>
          </a:xfrm>
        </p:grpSpPr>
        <p:sp>
          <p:nvSpPr>
            <p:cNvPr id="12" name="object 12"/>
            <p:cNvSpPr/>
            <p:nvPr/>
          </p:nvSpPr>
          <p:spPr>
            <a:xfrm>
              <a:off x="5089017" y="2263520"/>
              <a:ext cx="3401060" cy="2386330"/>
            </a:xfrm>
            <a:custGeom>
              <a:avLst/>
              <a:gdLst/>
              <a:ahLst/>
              <a:cxnLst/>
              <a:rect l="l" t="t" r="r" b="b"/>
              <a:pathLst>
                <a:path w="3401059" h="2386329">
                  <a:moveTo>
                    <a:pt x="3331463" y="2385821"/>
                  </a:moveTo>
                  <a:lnTo>
                    <a:pt x="69341" y="2385821"/>
                  </a:lnTo>
                  <a:lnTo>
                    <a:pt x="42353" y="2380371"/>
                  </a:lnTo>
                  <a:lnTo>
                    <a:pt x="20312" y="2365509"/>
                  </a:lnTo>
                  <a:lnTo>
                    <a:pt x="5450" y="2343468"/>
                  </a:lnTo>
                  <a:lnTo>
                    <a:pt x="0" y="2316479"/>
                  </a:lnTo>
                  <a:lnTo>
                    <a:pt x="0" y="69341"/>
                  </a:lnTo>
                  <a:lnTo>
                    <a:pt x="5450" y="42353"/>
                  </a:lnTo>
                  <a:lnTo>
                    <a:pt x="20312" y="20312"/>
                  </a:lnTo>
                  <a:lnTo>
                    <a:pt x="42353" y="5450"/>
                  </a:lnTo>
                  <a:lnTo>
                    <a:pt x="69341" y="0"/>
                  </a:lnTo>
                  <a:lnTo>
                    <a:pt x="3331463" y="0"/>
                  </a:lnTo>
                  <a:lnTo>
                    <a:pt x="3358452" y="5450"/>
                  </a:lnTo>
                  <a:lnTo>
                    <a:pt x="3380493" y="20312"/>
                  </a:lnTo>
                  <a:lnTo>
                    <a:pt x="3395355" y="42353"/>
                  </a:lnTo>
                  <a:lnTo>
                    <a:pt x="3400805" y="69341"/>
                  </a:lnTo>
                  <a:lnTo>
                    <a:pt x="3400805" y="2316479"/>
                  </a:lnTo>
                  <a:lnTo>
                    <a:pt x="3395355" y="2343468"/>
                  </a:lnTo>
                  <a:lnTo>
                    <a:pt x="3380493" y="2365509"/>
                  </a:lnTo>
                  <a:lnTo>
                    <a:pt x="3358452" y="2380371"/>
                  </a:lnTo>
                  <a:lnTo>
                    <a:pt x="3331463" y="2385821"/>
                  </a:lnTo>
                  <a:close/>
                </a:path>
              </a:pathLst>
            </a:custGeom>
            <a:solidFill>
              <a:srgbClr val="F2E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89017" y="2263498"/>
              <a:ext cx="3400425" cy="2381250"/>
            </a:xfrm>
            <a:custGeom>
              <a:avLst/>
              <a:gdLst/>
              <a:ahLst/>
              <a:cxnLst/>
              <a:rect l="l" t="t" r="r" b="b"/>
              <a:pathLst>
                <a:path w="3400425" h="2381250">
                  <a:moveTo>
                    <a:pt x="3400424" y="2317702"/>
                  </a:moveTo>
                  <a:lnTo>
                    <a:pt x="3395238" y="2343385"/>
                  </a:lnTo>
                  <a:lnTo>
                    <a:pt x="3380376" y="2365425"/>
                  </a:lnTo>
                  <a:lnTo>
                    <a:pt x="3358361" y="2380412"/>
                  </a:lnTo>
                  <a:lnTo>
                    <a:pt x="3354078" y="2381147"/>
                  </a:lnTo>
                </a:path>
                <a:path w="3400425" h="2381250">
                  <a:moveTo>
                    <a:pt x="46705" y="2381254"/>
                  </a:moveTo>
                  <a:lnTo>
                    <a:pt x="42355" y="2380381"/>
                  </a:lnTo>
                  <a:lnTo>
                    <a:pt x="20273" y="2365474"/>
                  </a:lnTo>
                  <a:lnTo>
                    <a:pt x="5412" y="2343434"/>
                  </a:lnTo>
                  <a:lnTo>
                    <a:pt x="0" y="2316398"/>
                  </a:lnTo>
                  <a:lnTo>
                    <a:pt x="1" y="69354"/>
                  </a:lnTo>
                  <a:lnTo>
                    <a:pt x="20335" y="20318"/>
                  </a:lnTo>
                  <a:lnTo>
                    <a:pt x="69373" y="22"/>
                  </a:lnTo>
                  <a:lnTo>
                    <a:pt x="3331353" y="0"/>
                  </a:lnTo>
                  <a:lnTo>
                    <a:pt x="3358372" y="5418"/>
                  </a:lnTo>
                  <a:lnTo>
                    <a:pt x="3380456" y="20279"/>
                  </a:lnTo>
                  <a:lnTo>
                    <a:pt x="3395325" y="42314"/>
                  </a:lnTo>
                  <a:lnTo>
                    <a:pt x="3400319" y="67498"/>
                  </a:lnTo>
                </a:path>
              </a:pathLst>
            </a:custGeom>
            <a:ln w="53339">
              <a:solidFill>
                <a:srgbClr val="531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44655" y="2612390"/>
            <a:ext cx="2489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317A7"/>
                </a:solidFill>
                <a:latin typeface="Arial"/>
                <a:cs typeface="Arial"/>
              </a:rPr>
              <a:t>APPLICATION / </a:t>
            </a:r>
            <a:r>
              <a:rPr sz="1800" b="1" spc="-10" dirty="0">
                <a:solidFill>
                  <a:srgbClr val="5317A7"/>
                </a:solidFill>
                <a:latin typeface="Arial"/>
                <a:cs typeface="Arial"/>
              </a:rPr>
              <a:t>LOGIC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99952" y="3364865"/>
            <a:ext cx="2578735" cy="10998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065" marR="5080" indent="-635" algn="ctr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FastAPI POST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/api/solve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routes by puzzle </a:t>
            </a:r>
            <a:r>
              <a:rPr sz="1800" spc="-25" dirty="0">
                <a:solidFill>
                  <a:srgbClr val="1F2937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algorithm. A Web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Worker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runs solvers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offline.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543924" y="2961549"/>
            <a:ext cx="551180" cy="798195"/>
            <a:chOff x="8543924" y="2961549"/>
            <a:chExt cx="551180" cy="798195"/>
          </a:xfrm>
        </p:grpSpPr>
        <p:sp>
          <p:nvSpPr>
            <p:cNvPr id="17" name="object 17"/>
            <p:cNvSpPr/>
            <p:nvPr/>
          </p:nvSpPr>
          <p:spPr>
            <a:xfrm>
              <a:off x="8562974" y="2980562"/>
              <a:ext cx="513080" cy="759460"/>
            </a:xfrm>
            <a:custGeom>
              <a:avLst/>
              <a:gdLst/>
              <a:ahLst/>
              <a:cxnLst/>
              <a:rect l="l" t="t" r="r" b="b"/>
              <a:pathLst>
                <a:path w="513079" h="759460">
                  <a:moveTo>
                    <a:pt x="256744" y="759222"/>
                  </a:moveTo>
                  <a:lnTo>
                    <a:pt x="331" y="759222"/>
                  </a:lnTo>
                  <a:lnTo>
                    <a:pt x="256413" y="379856"/>
                  </a:lnTo>
                  <a:lnTo>
                    <a:pt x="0" y="0"/>
                  </a:lnTo>
                  <a:lnTo>
                    <a:pt x="256413" y="0"/>
                  </a:lnTo>
                  <a:lnTo>
                    <a:pt x="512825" y="379856"/>
                  </a:lnTo>
                  <a:lnTo>
                    <a:pt x="256744" y="759222"/>
                  </a:lnTo>
                  <a:close/>
                </a:path>
              </a:pathLst>
            </a:custGeom>
            <a:solidFill>
              <a:srgbClr val="B8C6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562974" y="2980599"/>
              <a:ext cx="513080" cy="760095"/>
            </a:xfrm>
            <a:custGeom>
              <a:avLst/>
              <a:gdLst/>
              <a:ahLst/>
              <a:cxnLst/>
              <a:rect l="l" t="t" r="r" b="b"/>
              <a:pathLst>
                <a:path w="513079" h="760095">
                  <a:moveTo>
                    <a:pt x="0" y="0"/>
                  </a:moveTo>
                  <a:lnTo>
                    <a:pt x="256356" y="0"/>
                  </a:lnTo>
                  <a:lnTo>
                    <a:pt x="512712" y="379773"/>
                  </a:lnTo>
                  <a:lnTo>
                    <a:pt x="256356" y="759546"/>
                  </a:lnTo>
                  <a:lnTo>
                    <a:pt x="0" y="759546"/>
                  </a:lnTo>
                  <a:lnTo>
                    <a:pt x="256356" y="379773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B8C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9232011" y="2236828"/>
            <a:ext cx="3453765" cy="2434590"/>
            <a:chOff x="9232011" y="2236828"/>
            <a:chExt cx="3453765" cy="2434590"/>
          </a:xfrm>
        </p:grpSpPr>
        <p:sp>
          <p:nvSpPr>
            <p:cNvPr id="20" name="object 20"/>
            <p:cNvSpPr/>
            <p:nvPr/>
          </p:nvSpPr>
          <p:spPr>
            <a:xfrm>
              <a:off x="9258681" y="2263521"/>
              <a:ext cx="3401060" cy="2386330"/>
            </a:xfrm>
            <a:custGeom>
              <a:avLst/>
              <a:gdLst/>
              <a:ahLst/>
              <a:cxnLst/>
              <a:rect l="l" t="t" r="r" b="b"/>
              <a:pathLst>
                <a:path w="3401059" h="2386329">
                  <a:moveTo>
                    <a:pt x="3331463" y="2385821"/>
                  </a:moveTo>
                  <a:lnTo>
                    <a:pt x="69341" y="2385821"/>
                  </a:lnTo>
                  <a:lnTo>
                    <a:pt x="42353" y="2380371"/>
                  </a:lnTo>
                  <a:lnTo>
                    <a:pt x="20312" y="2365509"/>
                  </a:lnTo>
                  <a:lnTo>
                    <a:pt x="5450" y="2343468"/>
                  </a:lnTo>
                  <a:lnTo>
                    <a:pt x="0" y="2316479"/>
                  </a:lnTo>
                  <a:lnTo>
                    <a:pt x="0" y="69341"/>
                  </a:lnTo>
                  <a:lnTo>
                    <a:pt x="5450" y="42353"/>
                  </a:lnTo>
                  <a:lnTo>
                    <a:pt x="20312" y="20312"/>
                  </a:lnTo>
                  <a:lnTo>
                    <a:pt x="42353" y="5450"/>
                  </a:lnTo>
                  <a:lnTo>
                    <a:pt x="69341" y="0"/>
                  </a:lnTo>
                  <a:lnTo>
                    <a:pt x="3331463" y="0"/>
                  </a:lnTo>
                  <a:lnTo>
                    <a:pt x="3358452" y="5450"/>
                  </a:lnTo>
                  <a:lnTo>
                    <a:pt x="3380493" y="20312"/>
                  </a:lnTo>
                  <a:lnTo>
                    <a:pt x="3395355" y="42353"/>
                  </a:lnTo>
                  <a:lnTo>
                    <a:pt x="3400805" y="69341"/>
                  </a:lnTo>
                  <a:lnTo>
                    <a:pt x="3400805" y="2316479"/>
                  </a:lnTo>
                  <a:lnTo>
                    <a:pt x="3395355" y="2343468"/>
                  </a:lnTo>
                  <a:lnTo>
                    <a:pt x="3380493" y="2365509"/>
                  </a:lnTo>
                  <a:lnTo>
                    <a:pt x="3358452" y="2380371"/>
                  </a:lnTo>
                  <a:lnTo>
                    <a:pt x="3331463" y="2385821"/>
                  </a:lnTo>
                  <a:close/>
                </a:path>
              </a:pathLst>
            </a:custGeom>
            <a:solidFill>
              <a:srgbClr val="FFF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58681" y="2263498"/>
              <a:ext cx="3400425" cy="2381250"/>
            </a:xfrm>
            <a:custGeom>
              <a:avLst/>
              <a:gdLst/>
              <a:ahLst/>
              <a:cxnLst/>
              <a:rect l="l" t="t" r="r" b="b"/>
              <a:pathLst>
                <a:path w="3400425" h="2381250">
                  <a:moveTo>
                    <a:pt x="3400425" y="2317700"/>
                  </a:moveTo>
                  <a:lnTo>
                    <a:pt x="3395238" y="2343385"/>
                  </a:lnTo>
                  <a:lnTo>
                    <a:pt x="3380376" y="2365426"/>
                  </a:lnTo>
                  <a:lnTo>
                    <a:pt x="3358361" y="2380412"/>
                  </a:lnTo>
                  <a:lnTo>
                    <a:pt x="3354079" y="2381147"/>
                  </a:lnTo>
                </a:path>
                <a:path w="3400425" h="2381250">
                  <a:moveTo>
                    <a:pt x="46705" y="2381254"/>
                  </a:moveTo>
                  <a:lnTo>
                    <a:pt x="42355" y="2380381"/>
                  </a:lnTo>
                  <a:lnTo>
                    <a:pt x="20273" y="2365474"/>
                  </a:lnTo>
                  <a:lnTo>
                    <a:pt x="5412" y="2343434"/>
                  </a:lnTo>
                  <a:lnTo>
                    <a:pt x="0" y="2316398"/>
                  </a:lnTo>
                  <a:lnTo>
                    <a:pt x="1" y="69354"/>
                  </a:lnTo>
                  <a:lnTo>
                    <a:pt x="20335" y="20318"/>
                  </a:lnTo>
                  <a:lnTo>
                    <a:pt x="69373" y="22"/>
                  </a:lnTo>
                  <a:lnTo>
                    <a:pt x="3331353" y="0"/>
                  </a:lnTo>
                  <a:lnTo>
                    <a:pt x="3358372" y="5418"/>
                  </a:lnTo>
                  <a:lnTo>
                    <a:pt x="3380456" y="20279"/>
                  </a:lnTo>
                  <a:lnTo>
                    <a:pt x="3395326" y="42314"/>
                  </a:lnTo>
                  <a:lnTo>
                    <a:pt x="3400319" y="67498"/>
                  </a:lnTo>
                </a:path>
              </a:pathLst>
            </a:custGeom>
            <a:ln w="53339">
              <a:solidFill>
                <a:srgbClr val="F18B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847519" y="2612390"/>
            <a:ext cx="2223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18B28"/>
                </a:solidFill>
                <a:latin typeface="Arial"/>
                <a:cs typeface="Arial"/>
              </a:rPr>
              <a:t>SOLVER / AI </a:t>
            </a:r>
            <a:r>
              <a:rPr sz="1800" b="1" spc="-10" dirty="0">
                <a:solidFill>
                  <a:srgbClr val="F18B28"/>
                </a:solidFill>
                <a:latin typeface="Arial"/>
                <a:cs typeface="Arial"/>
              </a:rPr>
              <a:t>LAYER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07530" y="3181804"/>
            <a:ext cx="3074670" cy="13665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065" marR="5080" indent="-635" algn="ctr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C++20 engines, D-Wave </a:t>
            </a:r>
            <a:r>
              <a:rPr sz="1800" spc="-20" dirty="0">
                <a:solidFill>
                  <a:srgbClr val="1F2937"/>
                </a:solidFill>
                <a:latin typeface="Arial"/>
                <a:cs typeface="Arial"/>
              </a:rPr>
              <a:t>Neal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(Thermodynamic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Annealing),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and Qiskit </a:t>
            </a:r>
            <a:r>
              <a:rPr sz="1800" spc="-20" dirty="0">
                <a:solidFill>
                  <a:srgbClr val="1F2937"/>
                </a:solidFill>
                <a:latin typeface="Arial"/>
                <a:cs typeface="Arial"/>
              </a:rPr>
              <a:t>QAOA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(StatevectorSampler </a:t>
            </a:r>
            <a:r>
              <a:rPr sz="1800" spc="-50" dirty="0">
                <a:solidFill>
                  <a:srgbClr val="1F2937"/>
                </a:solidFill>
                <a:latin typeface="Arial"/>
                <a:cs typeface="Arial"/>
              </a:rPr>
              <a:t>&amp;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COBYLA) on a real IBM </a:t>
            </a:r>
            <a:r>
              <a:rPr sz="1800" spc="-20" dirty="0">
                <a:solidFill>
                  <a:srgbClr val="1F2937"/>
                </a:solidFill>
                <a:latin typeface="Arial"/>
                <a:cs typeface="Arial"/>
              </a:rPr>
              <a:t>QPU.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713588" y="2961549"/>
            <a:ext cx="551180" cy="798195"/>
            <a:chOff x="12713588" y="2961549"/>
            <a:chExt cx="551180" cy="798195"/>
          </a:xfrm>
        </p:grpSpPr>
        <p:sp>
          <p:nvSpPr>
            <p:cNvPr id="25" name="object 25"/>
            <p:cNvSpPr/>
            <p:nvPr/>
          </p:nvSpPr>
          <p:spPr>
            <a:xfrm>
              <a:off x="12732638" y="2980562"/>
              <a:ext cx="513080" cy="759460"/>
            </a:xfrm>
            <a:custGeom>
              <a:avLst/>
              <a:gdLst/>
              <a:ahLst/>
              <a:cxnLst/>
              <a:rect l="l" t="t" r="r" b="b"/>
              <a:pathLst>
                <a:path w="513080" h="759460">
                  <a:moveTo>
                    <a:pt x="256744" y="759222"/>
                  </a:moveTo>
                  <a:lnTo>
                    <a:pt x="331" y="759222"/>
                  </a:lnTo>
                  <a:lnTo>
                    <a:pt x="256413" y="379856"/>
                  </a:lnTo>
                  <a:lnTo>
                    <a:pt x="0" y="0"/>
                  </a:lnTo>
                  <a:lnTo>
                    <a:pt x="256413" y="0"/>
                  </a:lnTo>
                  <a:lnTo>
                    <a:pt x="512825" y="379856"/>
                  </a:lnTo>
                  <a:lnTo>
                    <a:pt x="256744" y="759222"/>
                  </a:lnTo>
                  <a:close/>
                </a:path>
              </a:pathLst>
            </a:custGeom>
            <a:solidFill>
              <a:srgbClr val="B8C6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732638" y="2980599"/>
              <a:ext cx="513080" cy="760095"/>
            </a:xfrm>
            <a:custGeom>
              <a:avLst/>
              <a:gdLst/>
              <a:ahLst/>
              <a:cxnLst/>
              <a:rect l="l" t="t" r="r" b="b"/>
              <a:pathLst>
                <a:path w="513080" h="760095">
                  <a:moveTo>
                    <a:pt x="0" y="0"/>
                  </a:moveTo>
                  <a:lnTo>
                    <a:pt x="256356" y="0"/>
                  </a:lnTo>
                  <a:lnTo>
                    <a:pt x="512713" y="379773"/>
                  </a:lnTo>
                  <a:lnTo>
                    <a:pt x="256356" y="759546"/>
                  </a:lnTo>
                  <a:lnTo>
                    <a:pt x="0" y="759546"/>
                  </a:lnTo>
                  <a:lnTo>
                    <a:pt x="256356" y="379773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B8C6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13401675" y="2236828"/>
            <a:ext cx="3453765" cy="2434590"/>
            <a:chOff x="13401675" y="2236828"/>
            <a:chExt cx="3453765" cy="2434590"/>
          </a:xfrm>
        </p:grpSpPr>
        <p:sp>
          <p:nvSpPr>
            <p:cNvPr id="28" name="object 28"/>
            <p:cNvSpPr/>
            <p:nvPr/>
          </p:nvSpPr>
          <p:spPr>
            <a:xfrm>
              <a:off x="13428344" y="2263521"/>
              <a:ext cx="3401060" cy="2386330"/>
            </a:xfrm>
            <a:custGeom>
              <a:avLst/>
              <a:gdLst/>
              <a:ahLst/>
              <a:cxnLst/>
              <a:rect l="l" t="t" r="r" b="b"/>
              <a:pathLst>
                <a:path w="3401059" h="2386329">
                  <a:moveTo>
                    <a:pt x="3331463" y="2385821"/>
                  </a:moveTo>
                  <a:lnTo>
                    <a:pt x="69341" y="2385821"/>
                  </a:lnTo>
                  <a:lnTo>
                    <a:pt x="42353" y="2380371"/>
                  </a:lnTo>
                  <a:lnTo>
                    <a:pt x="20312" y="2365509"/>
                  </a:lnTo>
                  <a:lnTo>
                    <a:pt x="5450" y="2343468"/>
                  </a:lnTo>
                  <a:lnTo>
                    <a:pt x="0" y="2316479"/>
                  </a:lnTo>
                  <a:lnTo>
                    <a:pt x="0" y="69341"/>
                  </a:lnTo>
                  <a:lnTo>
                    <a:pt x="5450" y="42353"/>
                  </a:lnTo>
                  <a:lnTo>
                    <a:pt x="20312" y="20312"/>
                  </a:lnTo>
                  <a:lnTo>
                    <a:pt x="42353" y="5450"/>
                  </a:lnTo>
                  <a:lnTo>
                    <a:pt x="69341" y="0"/>
                  </a:lnTo>
                  <a:lnTo>
                    <a:pt x="3331463" y="0"/>
                  </a:lnTo>
                  <a:lnTo>
                    <a:pt x="3358452" y="5450"/>
                  </a:lnTo>
                  <a:lnTo>
                    <a:pt x="3380493" y="20312"/>
                  </a:lnTo>
                  <a:lnTo>
                    <a:pt x="3395355" y="42353"/>
                  </a:lnTo>
                  <a:lnTo>
                    <a:pt x="3400805" y="69341"/>
                  </a:lnTo>
                  <a:lnTo>
                    <a:pt x="3400805" y="2316479"/>
                  </a:lnTo>
                  <a:lnTo>
                    <a:pt x="3395355" y="2343468"/>
                  </a:lnTo>
                  <a:lnTo>
                    <a:pt x="3380493" y="2365509"/>
                  </a:lnTo>
                  <a:lnTo>
                    <a:pt x="3358452" y="2380371"/>
                  </a:lnTo>
                  <a:lnTo>
                    <a:pt x="3331463" y="2385821"/>
                  </a:lnTo>
                  <a:close/>
                </a:path>
              </a:pathLst>
            </a:custGeom>
            <a:solidFill>
              <a:srgbClr val="EFF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428344" y="2263498"/>
              <a:ext cx="3400425" cy="2381250"/>
            </a:xfrm>
            <a:custGeom>
              <a:avLst/>
              <a:gdLst/>
              <a:ahLst/>
              <a:cxnLst/>
              <a:rect l="l" t="t" r="r" b="b"/>
              <a:pathLst>
                <a:path w="3400425" h="2381250">
                  <a:moveTo>
                    <a:pt x="3400425" y="2317700"/>
                  </a:moveTo>
                  <a:lnTo>
                    <a:pt x="3395238" y="2343385"/>
                  </a:lnTo>
                  <a:lnTo>
                    <a:pt x="3380376" y="2365426"/>
                  </a:lnTo>
                  <a:lnTo>
                    <a:pt x="3358361" y="2380412"/>
                  </a:lnTo>
                  <a:lnTo>
                    <a:pt x="3354078" y="2381147"/>
                  </a:lnTo>
                </a:path>
                <a:path w="3400425" h="2381250">
                  <a:moveTo>
                    <a:pt x="46705" y="2381254"/>
                  </a:moveTo>
                  <a:lnTo>
                    <a:pt x="42355" y="2380381"/>
                  </a:lnTo>
                  <a:lnTo>
                    <a:pt x="20273" y="2365474"/>
                  </a:lnTo>
                  <a:lnTo>
                    <a:pt x="5412" y="2343434"/>
                  </a:lnTo>
                  <a:lnTo>
                    <a:pt x="0" y="2316398"/>
                  </a:lnTo>
                  <a:lnTo>
                    <a:pt x="1" y="69354"/>
                  </a:lnTo>
                  <a:lnTo>
                    <a:pt x="20335" y="20318"/>
                  </a:lnTo>
                  <a:lnTo>
                    <a:pt x="69373" y="22"/>
                  </a:lnTo>
                  <a:lnTo>
                    <a:pt x="3331353" y="0"/>
                  </a:lnTo>
                  <a:lnTo>
                    <a:pt x="3358372" y="5418"/>
                  </a:lnTo>
                  <a:lnTo>
                    <a:pt x="3380456" y="20279"/>
                  </a:lnTo>
                  <a:lnTo>
                    <a:pt x="3395326" y="42314"/>
                  </a:lnTo>
                  <a:lnTo>
                    <a:pt x="3400319" y="67498"/>
                  </a:lnTo>
                </a:path>
              </a:pathLst>
            </a:custGeom>
            <a:ln w="53339">
              <a:solidFill>
                <a:srgbClr val="62A7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4112730" y="2612390"/>
            <a:ext cx="2032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2A745"/>
                </a:solidFill>
                <a:latin typeface="Arial"/>
                <a:cs typeface="Arial"/>
              </a:rPr>
              <a:t>OUTPUT</a:t>
            </a:r>
            <a:r>
              <a:rPr sz="1800" b="1" spc="-45" dirty="0">
                <a:solidFill>
                  <a:srgbClr val="62A7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2A745"/>
                </a:solidFill>
                <a:latin typeface="Arial"/>
                <a:cs typeface="Arial"/>
              </a:rPr>
              <a:t>/</a:t>
            </a:r>
            <a:r>
              <a:rPr sz="1800" b="1" spc="-35" dirty="0">
                <a:solidFill>
                  <a:srgbClr val="62A74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62A745"/>
                </a:solidFill>
                <a:latin typeface="Arial"/>
                <a:cs typeface="Arial"/>
              </a:rPr>
              <a:t>ACTION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699531" y="3364865"/>
            <a:ext cx="2858770" cy="10998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algn="ctr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Normalized JSON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telemetry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drives the animated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board,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SVG timeline, winner </a:t>
            </a:r>
            <a:r>
              <a:rPr sz="1800" spc="-25" dirty="0">
                <a:solidFill>
                  <a:srgbClr val="1F2937"/>
                </a:solidFill>
                <a:latin typeface="Arial"/>
                <a:cs typeface="Arial"/>
              </a:rPr>
              <a:t>and XP.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23360" y="5175122"/>
            <a:ext cx="5532755" cy="1637664"/>
          </a:xfrm>
          <a:custGeom>
            <a:avLst/>
            <a:gdLst/>
            <a:ahLst/>
            <a:cxnLst/>
            <a:rect l="l" t="t" r="r" b="b"/>
            <a:pathLst>
              <a:path w="5532755" h="1637665">
                <a:moveTo>
                  <a:pt x="0" y="69336"/>
                </a:moveTo>
                <a:lnTo>
                  <a:pt x="5449" y="42350"/>
                </a:lnTo>
                <a:lnTo>
                  <a:pt x="20310" y="20310"/>
                </a:lnTo>
                <a:lnTo>
                  <a:pt x="42350" y="5449"/>
                </a:lnTo>
                <a:lnTo>
                  <a:pt x="69336" y="0"/>
                </a:lnTo>
                <a:lnTo>
                  <a:pt x="5463102" y="0"/>
                </a:lnTo>
                <a:lnTo>
                  <a:pt x="5512128" y="20310"/>
                </a:lnTo>
                <a:lnTo>
                  <a:pt x="5532439" y="69336"/>
                </a:lnTo>
                <a:lnTo>
                  <a:pt x="5532439" y="1568070"/>
                </a:lnTo>
                <a:lnTo>
                  <a:pt x="5526989" y="1595056"/>
                </a:lnTo>
                <a:lnTo>
                  <a:pt x="5512128" y="1617096"/>
                </a:lnTo>
                <a:lnTo>
                  <a:pt x="5490088" y="1631957"/>
                </a:lnTo>
                <a:lnTo>
                  <a:pt x="5463102" y="1637406"/>
                </a:lnTo>
                <a:lnTo>
                  <a:pt x="69336" y="1637406"/>
                </a:lnTo>
                <a:lnTo>
                  <a:pt x="42350" y="1631957"/>
                </a:lnTo>
                <a:lnTo>
                  <a:pt x="20310" y="1617096"/>
                </a:lnTo>
                <a:lnTo>
                  <a:pt x="5449" y="1595056"/>
                </a:lnTo>
                <a:lnTo>
                  <a:pt x="0" y="1568070"/>
                </a:lnTo>
                <a:lnTo>
                  <a:pt x="0" y="69336"/>
                </a:lnTo>
              </a:path>
            </a:pathLst>
          </a:custGeom>
          <a:ln w="38099">
            <a:solidFill>
              <a:srgbClr val="DBE4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166875" y="5231002"/>
            <a:ext cx="4561840" cy="141160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95"/>
              </a:spcBef>
            </a:pPr>
            <a:r>
              <a:rPr sz="1800" b="1" spc="120" dirty="0">
                <a:solidFill>
                  <a:srgbClr val="007CC2"/>
                </a:solidFill>
                <a:latin typeface="Arial"/>
                <a:cs typeface="Arial"/>
              </a:rPr>
              <a:t>TECHNOLOGY</a:t>
            </a:r>
            <a:r>
              <a:rPr sz="1800" b="1" spc="335" dirty="0">
                <a:solidFill>
                  <a:srgbClr val="007CC2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007CC2"/>
                </a:solidFill>
                <a:latin typeface="Arial"/>
                <a:cs typeface="Arial"/>
              </a:rPr>
              <a:t>CHOICES</a:t>
            </a:r>
            <a:endParaRPr sz="1800">
              <a:latin typeface="Arial"/>
              <a:cs typeface="Arial"/>
            </a:endParaRPr>
          </a:p>
          <a:p>
            <a:pPr marL="12700" marR="5080" algn="just">
              <a:lnSpc>
                <a:spcPts val="2100"/>
              </a:lnSpc>
              <a:spcBef>
                <a:spcPts val="1320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C++20, Python 3.12 (FastAPI, Qiskit,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Dimod,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Neal), Qualcomm Cloud AI SDK,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TypeScript,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React 19, Vite,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Tailwind.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711512" y="5175122"/>
            <a:ext cx="5532755" cy="1637664"/>
          </a:xfrm>
          <a:custGeom>
            <a:avLst/>
            <a:gdLst/>
            <a:ahLst/>
            <a:cxnLst/>
            <a:rect l="l" t="t" r="r" b="b"/>
            <a:pathLst>
              <a:path w="5532755" h="1637665">
                <a:moveTo>
                  <a:pt x="0" y="69336"/>
                </a:moveTo>
                <a:lnTo>
                  <a:pt x="5449" y="42350"/>
                </a:lnTo>
                <a:lnTo>
                  <a:pt x="20310" y="20310"/>
                </a:lnTo>
                <a:lnTo>
                  <a:pt x="42350" y="5449"/>
                </a:lnTo>
                <a:lnTo>
                  <a:pt x="69336" y="0"/>
                </a:lnTo>
                <a:lnTo>
                  <a:pt x="5463102" y="0"/>
                </a:lnTo>
                <a:lnTo>
                  <a:pt x="5512128" y="20310"/>
                </a:lnTo>
                <a:lnTo>
                  <a:pt x="5532438" y="69336"/>
                </a:lnTo>
                <a:lnTo>
                  <a:pt x="5532438" y="1568070"/>
                </a:lnTo>
                <a:lnTo>
                  <a:pt x="5526989" y="1595056"/>
                </a:lnTo>
                <a:lnTo>
                  <a:pt x="5512128" y="1617096"/>
                </a:lnTo>
                <a:lnTo>
                  <a:pt x="5490088" y="1631957"/>
                </a:lnTo>
                <a:lnTo>
                  <a:pt x="5463102" y="1637406"/>
                </a:lnTo>
                <a:lnTo>
                  <a:pt x="69336" y="1637406"/>
                </a:lnTo>
                <a:lnTo>
                  <a:pt x="42350" y="1631957"/>
                </a:lnTo>
                <a:lnTo>
                  <a:pt x="20310" y="1617096"/>
                </a:lnTo>
                <a:lnTo>
                  <a:pt x="5449" y="1595056"/>
                </a:lnTo>
                <a:lnTo>
                  <a:pt x="0" y="1568070"/>
                </a:lnTo>
                <a:lnTo>
                  <a:pt x="0" y="69336"/>
                </a:lnTo>
              </a:path>
            </a:pathLst>
          </a:custGeom>
          <a:ln w="38099">
            <a:solidFill>
              <a:srgbClr val="DBE4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955027" y="5231002"/>
            <a:ext cx="4587875" cy="141160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800" b="1" spc="125" dirty="0">
                <a:solidFill>
                  <a:srgbClr val="5317A7"/>
                </a:solidFill>
                <a:latin typeface="Arial"/>
                <a:cs typeface="Arial"/>
              </a:rPr>
              <a:t>ENGINEERING</a:t>
            </a:r>
            <a:r>
              <a:rPr sz="1800" b="1" spc="315" dirty="0">
                <a:solidFill>
                  <a:srgbClr val="5317A7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5317A7"/>
                </a:solidFill>
                <a:latin typeface="Arial"/>
                <a:cs typeface="Arial"/>
              </a:rPr>
              <a:t>RATIONALE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100"/>
              </a:lnSpc>
              <a:spcBef>
                <a:spcPts val="1320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Dependency-free C++ for speed;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subprocess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JSON keeps engines swappable; a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Worker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keeps the UI at 60 </a:t>
            </a:r>
            <a:r>
              <a:rPr sz="1800" spc="-20" dirty="0">
                <a:solidFill>
                  <a:srgbClr val="1F2937"/>
                </a:solidFill>
                <a:latin typeface="Arial"/>
                <a:cs typeface="Arial"/>
              </a:rPr>
              <a:t>FPS.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2499621" y="5175122"/>
            <a:ext cx="4324350" cy="1637664"/>
          </a:xfrm>
          <a:custGeom>
            <a:avLst/>
            <a:gdLst/>
            <a:ahLst/>
            <a:cxnLst/>
            <a:rect l="l" t="t" r="r" b="b"/>
            <a:pathLst>
              <a:path w="4324350" h="1637665">
                <a:moveTo>
                  <a:pt x="4324194" y="1574674"/>
                </a:moveTo>
                <a:lnTo>
                  <a:pt x="4305217" y="1617096"/>
                </a:lnTo>
                <a:lnTo>
                  <a:pt x="4256191" y="1637406"/>
                </a:lnTo>
                <a:lnTo>
                  <a:pt x="69336" y="1637406"/>
                </a:lnTo>
                <a:lnTo>
                  <a:pt x="42349" y="1631957"/>
                </a:lnTo>
                <a:lnTo>
                  <a:pt x="20310" y="1617096"/>
                </a:lnTo>
                <a:lnTo>
                  <a:pt x="5449" y="1595056"/>
                </a:lnTo>
                <a:lnTo>
                  <a:pt x="0" y="1568070"/>
                </a:lnTo>
                <a:lnTo>
                  <a:pt x="0" y="69336"/>
                </a:lnTo>
                <a:lnTo>
                  <a:pt x="5449" y="42349"/>
                </a:lnTo>
                <a:lnTo>
                  <a:pt x="20310" y="20310"/>
                </a:lnTo>
                <a:lnTo>
                  <a:pt x="42350" y="5449"/>
                </a:lnTo>
                <a:lnTo>
                  <a:pt x="69336" y="0"/>
                </a:lnTo>
                <a:lnTo>
                  <a:pt x="4256191" y="0"/>
                </a:lnTo>
                <a:lnTo>
                  <a:pt x="4283177" y="5449"/>
                </a:lnTo>
                <a:lnTo>
                  <a:pt x="4305217" y="20310"/>
                </a:lnTo>
                <a:lnTo>
                  <a:pt x="4320078" y="42349"/>
                </a:lnTo>
                <a:lnTo>
                  <a:pt x="4324194" y="62733"/>
                </a:lnTo>
              </a:path>
            </a:pathLst>
          </a:custGeom>
          <a:ln w="38099">
            <a:solidFill>
              <a:srgbClr val="DBE4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2743179" y="5231002"/>
            <a:ext cx="3519804" cy="141160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800" b="1" spc="120" dirty="0">
                <a:solidFill>
                  <a:srgbClr val="62A745"/>
                </a:solidFill>
                <a:latin typeface="Arial"/>
                <a:cs typeface="Arial"/>
              </a:rPr>
              <a:t>VALIDATION</a:t>
            </a:r>
            <a:r>
              <a:rPr sz="1800" b="1" spc="300" dirty="0">
                <a:solidFill>
                  <a:srgbClr val="62A74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62A745"/>
                </a:solidFill>
                <a:latin typeface="Arial"/>
                <a:cs typeface="Arial"/>
              </a:rPr>
              <a:t>/</a:t>
            </a:r>
            <a:r>
              <a:rPr sz="1800" b="1" spc="310" dirty="0">
                <a:solidFill>
                  <a:srgbClr val="62A745"/>
                </a:solidFill>
                <a:latin typeface="Arial"/>
                <a:cs typeface="Arial"/>
              </a:rPr>
              <a:t> </a:t>
            </a:r>
            <a:r>
              <a:rPr sz="1800" b="1" spc="114" dirty="0">
                <a:solidFill>
                  <a:srgbClr val="62A745"/>
                </a:solidFill>
                <a:latin typeface="Arial"/>
                <a:cs typeface="Arial"/>
              </a:rPr>
              <a:t>RELIABILITY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30"/>
              </a:lnSpc>
              <a:spcBef>
                <a:spcPts val="1200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Vitest solver tests, fixed seed </a:t>
            </a:r>
            <a:r>
              <a:rPr sz="1800" spc="-25" dirty="0">
                <a:solidFill>
                  <a:srgbClr val="1F2937"/>
                </a:solidFill>
                <a:latin typeface="Arial"/>
                <a:cs typeface="Arial"/>
              </a:rPr>
              <a:t>42,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100"/>
              </a:lnSpc>
              <a:spcBef>
                <a:spcPts val="90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4.5 s timeout guard, offline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Worker fallback.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22920" y="6966584"/>
            <a:ext cx="16020415" cy="1497330"/>
            <a:chOff x="822920" y="6966584"/>
            <a:chExt cx="16020415" cy="1497330"/>
          </a:xfrm>
        </p:grpSpPr>
        <p:sp>
          <p:nvSpPr>
            <p:cNvPr id="39" name="object 39"/>
            <p:cNvSpPr/>
            <p:nvPr/>
          </p:nvSpPr>
          <p:spPr>
            <a:xfrm>
              <a:off x="841362" y="6985634"/>
              <a:ext cx="15983585" cy="1459230"/>
            </a:xfrm>
            <a:custGeom>
              <a:avLst/>
              <a:gdLst/>
              <a:ahLst/>
              <a:cxnLst/>
              <a:rect l="l" t="t" r="r" b="b"/>
              <a:pathLst>
                <a:path w="15983585" h="1459229">
                  <a:moveTo>
                    <a:pt x="15900082" y="1459229"/>
                  </a:moveTo>
                  <a:lnTo>
                    <a:pt x="83343" y="1459229"/>
                  </a:lnTo>
                  <a:lnTo>
                    <a:pt x="50912" y="1452677"/>
                  </a:lnTo>
                  <a:lnTo>
                    <a:pt x="24419" y="1434810"/>
                  </a:lnTo>
                  <a:lnTo>
                    <a:pt x="6552" y="1408317"/>
                  </a:lnTo>
                  <a:lnTo>
                    <a:pt x="0" y="1375886"/>
                  </a:lnTo>
                  <a:lnTo>
                    <a:pt x="0" y="83344"/>
                  </a:lnTo>
                  <a:lnTo>
                    <a:pt x="6552" y="50912"/>
                  </a:lnTo>
                  <a:lnTo>
                    <a:pt x="24419" y="24419"/>
                  </a:lnTo>
                  <a:lnTo>
                    <a:pt x="50912" y="6553"/>
                  </a:lnTo>
                  <a:lnTo>
                    <a:pt x="83343" y="0"/>
                  </a:lnTo>
                  <a:lnTo>
                    <a:pt x="15900082" y="0"/>
                  </a:lnTo>
                  <a:lnTo>
                    <a:pt x="15932513" y="6553"/>
                  </a:lnTo>
                  <a:lnTo>
                    <a:pt x="15959006" y="24419"/>
                  </a:lnTo>
                  <a:lnTo>
                    <a:pt x="15976873" y="50912"/>
                  </a:lnTo>
                  <a:lnTo>
                    <a:pt x="15983127" y="81867"/>
                  </a:lnTo>
                  <a:lnTo>
                    <a:pt x="15983127" y="1377362"/>
                  </a:lnTo>
                  <a:lnTo>
                    <a:pt x="15976873" y="1408317"/>
                  </a:lnTo>
                  <a:lnTo>
                    <a:pt x="15959006" y="1434810"/>
                  </a:lnTo>
                  <a:lnTo>
                    <a:pt x="15932513" y="1452677"/>
                  </a:lnTo>
                  <a:lnTo>
                    <a:pt x="15900082" y="145922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41970" y="6985634"/>
              <a:ext cx="15982315" cy="1457325"/>
            </a:xfrm>
            <a:custGeom>
              <a:avLst/>
              <a:gdLst/>
              <a:ahLst/>
              <a:cxnLst/>
              <a:rect l="l" t="t" r="r" b="b"/>
              <a:pathLst>
                <a:path w="15982315" h="1457325">
                  <a:moveTo>
                    <a:pt x="74498" y="1457324"/>
                  </a:moveTo>
                  <a:lnTo>
                    <a:pt x="50908" y="1452558"/>
                  </a:lnTo>
                  <a:lnTo>
                    <a:pt x="24417" y="1434692"/>
                  </a:lnTo>
                  <a:lnTo>
                    <a:pt x="6552" y="1408202"/>
                  </a:lnTo>
                  <a:lnTo>
                    <a:pt x="0" y="1375773"/>
                  </a:lnTo>
                  <a:lnTo>
                    <a:pt x="0" y="83336"/>
                  </a:lnTo>
                  <a:lnTo>
                    <a:pt x="6552" y="50908"/>
                  </a:lnTo>
                  <a:lnTo>
                    <a:pt x="24417" y="24417"/>
                  </a:lnTo>
                  <a:lnTo>
                    <a:pt x="50908" y="6552"/>
                  </a:lnTo>
                  <a:lnTo>
                    <a:pt x="83336" y="0"/>
                  </a:lnTo>
                  <a:lnTo>
                    <a:pt x="15898783" y="0"/>
                  </a:lnTo>
                  <a:lnTo>
                    <a:pt x="15931211" y="6551"/>
                  </a:lnTo>
                  <a:lnTo>
                    <a:pt x="15957702" y="24416"/>
                  </a:lnTo>
                  <a:lnTo>
                    <a:pt x="15975569" y="50907"/>
                  </a:lnTo>
                  <a:lnTo>
                    <a:pt x="15982121" y="83336"/>
                  </a:lnTo>
                  <a:lnTo>
                    <a:pt x="15982121" y="1375774"/>
                  </a:lnTo>
                  <a:lnTo>
                    <a:pt x="15975568" y="1408203"/>
                  </a:lnTo>
                  <a:lnTo>
                    <a:pt x="15957702" y="1434693"/>
                  </a:lnTo>
                  <a:lnTo>
                    <a:pt x="15931211" y="1452558"/>
                  </a:lnTo>
                  <a:lnTo>
                    <a:pt x="15907622" y="1457324"/>
                  </a:lnTo>
                </a:path>
              </a:pathLst>
            </a:custGeom>
            <a:ln w="38099">
              <a:solidFill>
                <a:srgbClr val="DBE4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93045" y="6985634"/>
              <a:ext cx="135255" cy="1459865"/>
            </a:xfrm>
            <a:custGeom>
              <a:avLst/>
              <a:gdLst/>
              <a:ahLst/>
              <a:cxnLst/>
              <a:rect l="l" t="t" r="r" b="b"/>
              <a:pathLst>
                <a:path w="135255" h="1459865">
                  <a:moveTo>
                    <a:pt x="135064" y="1459329"/>
                  </a:moveTo>
                  <a:lnTo>
                    <a:pt x="0" y="1459329"/>
                  </a:lnTo>
                  <a:lnTo>
                    <a:pt x="0" y="0"/>
                  </a:lnTo>
                  <a:lnTo>
                    <a:pt x="135064" y="0"/>
                  </a:lnTo>
                  <a:lnTo>
                    <a:pt x="135064" y="1459329"/>
                  </a:lnTo>
                  <a:close/>
                </a:path>
              </a:pathLst>
            </a:custGeom>
            <a:solidFill>
              <a:srgbClr val="531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93045" y="6985993"/>
              <a:ext cx="135255" cy="1458595"/>
            </a:xfrm>
            <a:custGeom>
              <a:avLst/>
              <a:gdLst/>
              <a:ahLst/>
              <a:cxnLst/>
              <a:rect l="l" t="t" r="r" b="b"/>
              <a:pathLst>
                <a:path w="135255" h="1458595">
                  <a:moveTo>
                    <a:pt x="0" y="0"/>
                  </a:moveTo>
                  <a:lnTo>
                    <a:pt x="134987" y="0"/>
                  </a:lnTo>
                  <a:lnTo>
                    <a:pt x="134987" y="1458393"/>
                  </a:lnTo>
                  <a:lnTo>
                    <a:pt x="0" y="1458393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531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112011" y="7401539"/>
            <a:ext cx="1803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0" dirty="0">
                <a:solidFill>
                  <a:srgbClr val="5317A7"/>
                </a:solidFill>
                <a:latin typeface="Arial"/>
                <a:cs typeface="Arial"/>
              </a:rPr>
              <a:t>WHAT</a:t>
            </a:r>
            <a:r>
              <a:rPr sz="1800" b="1" spc="280" dirty="0">
                <a:solidFill>
                  <a:srgbClr val="5317A7"/>
                </a:solidFill>
                <a:latin typeface="Arial"/>
                <a:cs typeface="Arial"/>
              </a:rPr>
              <a:t> </a:t>
            </a:r>
            <a:r>
              <a:rPr sz="1800" b="1" spc="60" dirty="0">
                <a:solidFill>
                  <a:srgbClr val="5317A7"/>
                </a:solidFill>
                <a:latin typeface="Arial"/>
                <a:cs typeface="Arial"/>
              </a:rPr>
              <a:t>TO</a:t>
            </a:r>
            <a:r>
              <a:rPr sz="1800" b="1" spc="285" dirty="0">
                <a:solidFill>
                  <a:srgbClr val="5317A7"/>
                </a:solidFill>
                <a:latin typeface="Arial"/>
                <a:cs typeface="Arial"/>
              </a:rPr>
              <a:t> </a:t>
            </a:r>
            <a:r>
              <a:rPr sz="1800" b="1" spc="60" dirty="0">
                <a:solidFill>
                  <a:srgbClr val="5317A7"/>
                </a:solidFill>
                <a:latin typeface="Arial"/>
                <a:cs typeface="Arial"/>
              </a:rPr>
              <a:t>SAY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184092" y="7459303"/>
            <a:ext cx="66675" cy="333375"/>
            <a:chOff x="3184092" y="7459303"/>
            <a:chExt cx="66675" cy="333375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4092" y="7459303"/>
              <a:ext cx="66675" cy="6667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4092" y="7726003"/>
              <a:ext cx="66675" cy="66674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3373203" y="7322779"/>
            <a:ext cx="1272032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Left to right: the browser sends a request, FastAPI dispatches to C++ or D-Wave, and telemetry returns as </a:t>
            </a:r>
            <a:r>
              <a:rPr sz="1800" spc="-10" dirty="0">
                <a:solidFill>
                  <a:srgbClr val="111726"/>
                </a:solidFill>
                <a:latin typeface="Arial"/>
                <a:cs typeface="Arial"/>
              </a:rPr>
              <a:t>JSON.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100"/>
              </a:lnSpc>
              <a:spcBef>
                <a:spcPts val="90"/>
              </a:spcBef>
            </a:pP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Key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decision: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a dual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engine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(API plus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Web Worker)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so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the demo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never depends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on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the backend;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QPU jobs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run</a:t>
            </a:r>
            <a:r>
              <a:rPr sz="1800" spc="-5" dirty="0">
                <a:solidFill>
                  <a:srgbClr val="11172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separately </a:t>
            </a:r>
            <a:r>
              <a:rPr sz="1800" spc="-25" dirty="0">
                <a:solidFill>
                  <a:srgbClr val="111726"/>
                </a:solidFill>
                <a:latin typeface="Arial"/>
                <a:cs typeface="Arial"/>
              </a:rPr>
              <a:t>via </a:t>
            </a:r>
            <a:r>
              <a:rPr sz="1800" spc="-10" dirty="0">
                <a:solidFill>
                  <a:srgbClr val="111726"/>
                </a:solidFill>
                <a:latin typeface="Arial"/>
                <a:cs typeface="Arial"/>
              </a:rPr>
              <a:t>Qiskit.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085"/>
              </a:lnSpc>
            </a:pPr>
            <a:r>
              <a:rPr dirty="0"/>
              <a:t>© 2026 Infosys Limited. All rights </a:t>
            </a:r>
            <a:r>
              <a:rPr spc="-10" dirty="0"/>
              <a:t>reserved.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">
              <a:lnSpc>
                <a:spcPts val="4765"/>
              </a:lnSpc>
              <a:spcBef>
                <a:spcPts val="100"/>
              </a:spcBef>
            </a:pPr>
            <a:r>
              <a:rPr dirty="0"/>
              <a:t>AI</a:t>
            </a:r>
            <a:r>
              <a:rPr spc="-80" dirty="0"/>
              <a:t> </a:t>
            </a:r>
            <a:r>
              <a:rPr spc="175" dirty="0"/>
              <a:t>Usage</a:t>
            </a:r>
            <a:r>
              <a:rPr spc="-80" dirty="0"/>
              <a:t> </a:t>
            </a:r>
            <a:r>
              <a:rPr spc="-170" dirty="0"/>
              <a:t>&amp;</a:t>
            </a:r>
            <a:r>
              <a:rPr spc="-80" dirty="0"/>
              <a:t> </a:t>
            </a:r>
            <a:r>
              <a:rPr spc="55" dirty="0"/>
              <a:t>Innovation</a:t>
            </a:r>
          </a:p>
          <a:p>
            <a:pPr marL="67310">
              <a:lnSpc>
                <a:spcPts val="2125"/>
              </a:lnSpc>
            </a:pPr>
            <a:r>
              <a:rPr sz="1800" dirty="0">
                <a:solidFill>
                  <a:srgbClr val="5B6573"/>
                </a:solidFill>
                <a:latin typeface="Arial"/>
                <a:cs typeface="Arial"/>
              </a:rPr>
              <a:t>Optimization-driven AI, benchmarked against exact baselines rather than added for </a:t>
            </a:r>
            <a:r>
              <a:rPr sz="1800" spc="-10" dirty="0">
                <a:solidFill>
                  <a:srgbClr val="5B6573"/>
                </a:solidFill>
                <a:latin typeface="Arial"/>
                <a:cs typeface="Arial"/>
              </a:rPr>
              <a:t>show.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13683" y="1402461"/>
            <a:ext cx="9866630" cy="1762125"/>
          </a:xfrm>
          <a:custGeom>
            <a:avLst/>
            <a:gdLst/>
            <a:ahLst/>
            <a:cxnLst/>
            <a:rect l="l" t="t" r="r" b="b"/>
            <a:pathLst>
              <a:path w="9866630" h="1762125">
                <a:moveTo>
                  <a:pt x="66475" y="1762125"/>
                </a:moveTo>
                <a:lnTo>
                  <a:pt x="42511" y="1755327"/>
                </a:lnTo>
                <a:lnTo>
                  <a:pt x="20382" y="1734348"/>
                </a:lnTo>
                <a:lnTo>
                  <a:pt x="5467" y="1703222"/>
                </a:lnTo>
                <a:lnTo>
                  <a:pt x="0" y="1665087"/>
                </a:lnTo>
                <a:lnTo>
                  <a:pt x="0" y="97930"/>
                </a:lnTo>
                <a:lnTo>
                  <a:pt x="5467" y="59795"/>
                </a:lnTo>
                <a:lnTo>
                  <a:pt x="20382" y="28669"/>
                </a:lnTo>
                <a:lnTo>
                  <a:pt x="42511" y="7690"/>
                </a:lnTo>
                <a:lnTo>
                  <a:pt x="69623" y="0"/>
                </a:lnTo>
                <a:lnTo>
                  <a:pt x="9796886" y="0"/>
                </a:lnTo>
                <a:lnTo>
                  <a:pt x="9846127" y="28669"/>
                </a:lnTo>
                <a:lnTo>
                  <a:pt x="9866509" y="97930"/>
                </a:lnTo>
                <a:lnTo>
                  <a:pt x="9866509" y="1665087"/>
                </a:lnTo>
                <a:lnTo>
                  <a:pt x="9861042" y="1703222"/>
                </a:lnTo>
                <a:lnTo>
                  <a:pt x="9846127" y="1734348"/>
                </a:lnTo>
                <a:lnTo>
                  <a:pt x="9823998" y="1755327"/>
                </a:lnTo>
                <a:lnTo>
                  <a:pt x="9800033" y="1762125"/>
                </a:lnTo>
              </a:path>
            </a:pathLst>
          </a:custGeom>
          <a:ln w="38100">
            <a:solidFill>
              <a:srgbClr val="DBE4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57147" y="1642744"/>
            <a:ext cx="2708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65" dirty="0">
                <a:solidFill>
                  <a:srgbClr val="5317A7"/>
                </a:solidFill>
                <a:latin typeface="Arial"/>
                <a:cs typeface="Arial"/>
              </a:rPr>
              <a:t>AI</a:t>
            </a:r>
            <a:r>
              <a:rPr sz="1800" b="1" spc="295" dirty="0">
                <a:solidFill>
                  <a:srgbClr val="5317A7"/>
                </a:solidFill>
                <a:latin typeface="Arial"/>
                <a:cs typeface="Arial"/>
              </a:rPr>
              <a:t> </a:t>
            </a:r>
            <a:r>
              <a:rPr sz="1800" b="1" spc="125" dirty="0">
                <a:solidFill>
                  <a:srgbClr val="5317A7"/>
                </a:solidFill>
                <a:latin typeface="Arial"/>
                <a:cs typeface="Arial"/>
              </a:rPr>
              <a:t>CAPABILITY</a:t>
            </a:r>
            <a:r>
              <a:rPr sz="1800" b="1" spc="300" dirty="0">
                <a:solidFill>
                  <a:srgbClr val="5317A7"/>
                </a:solidFill>
                <a:latin typeface="Arial"/>
                <a:cs typeface="Arial"/>
              </a:rPr>
              <a:t> </a:t>
            </a:r>
            <a:r>
              <a:rPr sz="1800" b="1" spc="85" dirty="0">
                <a:solidFill>
                  <a:srgbClr val="5317A7"/>
                </a:solidFill>
                <a:latin typeface="Arial"/>
                <a:cs typeface="Arial"/>
              </a:rPr>
              <a:t>USED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2273571"/>
            <a:ext cx="910336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Hybrid AI: Quantum Optimization (QAOA &amp; Annealing) + Generative AI (Qualcomm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Cloud Playground).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990705" y="1402433"/>
            <a:ext cx="6076950" cy="1781810"/>
          </a:xfrm>
          <a:custGeom>
            <a:avLst/>
            <a:gdLst/>
            <a:ahLst/>
            <a:cxnLst/>
            <a:rect l="l" t="t" r="r" b="b"/>
            <a:pathLst>
              <a:path w="6076950" h="1781810">
                <a:moveTo>
                  <a:pt x="6076933" y="1717775"/>
                </a:moveTo>
                <a:lnTo>
                  <a:pt x="6076042" y="1724130"/>
                </a:lnTo>
                <a:lnTo>
                  <a:pt x="6061093" y="1755655"/>
                </a:lnTo>
                <a:lnTo>
                  <a:pt x="6038963" y="1776890"/>
                </a:lnTo>
                <a:lnTo>
                  <a:pt x="6023825" y="1781156"/>
                </a:lnTo>
              </a:path>
              <a:path w="6076950" h="1781810">
                <a:moveTo>
                  <a:pt x="57689" y="1781192"/>
                </a:moveTo>
                <a:lnTo>
                  <a:pt x="20377" y="1755595"/>
                </a:lnTo>
                <a:lnTo>
                  <a:pt x="1" y="1685484"/>
                </a:lnTo>
                <a:lnTo>
                  <a:pt x="0" y="99167"/>
                </a:lnTo>
                <a:lnTo>
                  <a:pt x="5464" y="60564"/>
                </a:lnTo>
                <a:lnTo>
                  <a:pt x="20378" y="29053"/>
                </a:lnTo>
                <a:lnTo>
                  <a:pt x="42511" y="7813"/>
                </a:lnTo>
                <a:lnTo>
                  <a:pt x="69627" y="27"/>
                </a:lnTo>
                <a:lnTo>
                  <a:pt x="6011801" y="0"/>
                </a:lnTo>
                <a:lnTo>
                  <a:pt x="6038960" y="7764"/>
                </a:lnTo>
                <a:lnTo>
                  <a:pt x="6061125" y="29016"/>
                </a:lnTo>
                <a:lnTo>
                  <a:pt x="6076055" y="60551"/>
                </a:lnTo>
                <a:lnTo>
                  <a:pt x="6076934" y="66882"/>
                </a:lnTo>
              </a:path>
            </a:pathLst>
          </a:custGeom>
          <a:ln w="38100">
            <a:solidFill>
              <a:srgbClr val="DBE4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161076" y="1553452"/>
            <a:ext cx="5617210" cy="155321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800" b="1" spc="120" dirty="0">
                <a:solidFill>
                  <a:srgbClr val="F18B28"/>
                </a:solidFill>
                <a:latin typeface="Arial"/>
                <a:cs typeface="Arial"/>
              </a:rPr>
              <a:t>INNOVATION</a:t>
            </a:r>
            <a:r>
              <a:rPr sz="1800" b="1" spc="305" dirty="0">
                <a:solidFill>
                  <a:srgbClr val="F18B28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18B28"/>
                </a:solidFill>
                <a:latin typeface="Arial"/>
                <a:cs typeface="Arial"/>
              </a:rPr>
              <a:t>/</a:t>
            </a:r>
            <a:r>
              <a:rPr sz="1800" b="1" spc="315" dirty="0">
                <a:solidFill>
                  <a:srgbClr val="F18B28"/>
                </a:solidFill>
                <a:latin typeface="Arial"/>
                <a:cs typeface="Arial"/>
              </a:rPr>
              <a:t> </a:t>
            </a:r>
            <a:r>
              <a:rPr sz="1800" b="1" spc="114" dirty="0">
                <a:solidFill>
                  <a:srgbClr val="F18B28"/>
                </a:solidFill>
                <a:latin typeface="Arial"/>
                <a:cs typeface="Arial"/>
              </a:rPr>
              <a:t>DIFFERENTIATION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100"/>
              </a:lnSpc>
              <a:spcBef>
                <a:spcPts val="825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Engineered Candidate Domain Pruning, compressing </a:t>
            </a:r>
            <a:r>
              <a:rPr sz="1800" spc="-50" dirty="0">
                <a:solidFill>
                  <a:srgbClr val="1F2937"/>
                </a:solidFill>
                <a:latin typeface="Arial"/>
                <a:cs typeface="Arial"/>
              </a:rPr>
              <a:t>a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64-qubit Sudoku matrix down to just 5 active qubits </a:t>
            </a:r>
            <a:r>
              <a:rPr sz="1800" spc="-25" dirty="0">
                <a:solidFill>
                  <a:srgbClr val="1F2937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completely bypass the 16 TiB classical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simulation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memory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crash.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94384" y="3263264"/>
            <a:ext cx="8094980" cy="1607185"/>
            <a:chOff x="794384" y="3263264"/>
            <a:chExt cx="8094980" cy="1607185"/>
          </a:xfrm>
        </p:grpSpPr>
        <p:sp>
          <p:nvSpPr>
            <p:cNvPr id="9" name="object 9"/>
            <p:cNvSpPr/>
            <p:nvPr/>
          </p:nvSpPr>
          <p:spPr>
            <a:xfrm>
              <a:off x="813435" y="3282314"/>
              <a:ext cx="8056880" cy="1569085"/>
            </a:xfrm>
            <a:custGeom>
              <a:avLst/>
              <a:gdLst/>
              <a:ahLst/>
              <a:cxnLst/>
              <a:rect l="l" t="t" r="r" b="b"/>
              <a:pathLst>
                <a:path w="8056880" h="1569085">
                  <a:moveTo>
                    <a:pt x="7987188" y="1568957"/>
                  </a:moveTo>
                  <a:lnTo>
                    <a:pt x="69437" y="1568957"/>
                  </a:lnTo>
                  <a:lnTo>
                    <a:pt x="42393" y="1563506"/>
                  </a:lnTo>
                  <a:lnTo>
                    <a:pt x="20323" y="1548633"/>
                  </a:lnTo>
                  <a:lnTo>
                    <a:pt x="5451" y="1526564"/>
                  </a:lnTo>
                  <a:lnTo>
                    <a:pt x="0" y="1499520"/>
                  </a:lnTo>
                  <a:lnTo>
                    <a:pt x="0" y="69437"/>
                  </a:lnTo>
                  <a:lnTo>
                    <a:pt x="5451" y="42393"/>
                  </a:lnTo>
                  <a:lnTo>
                    <a:pt x="20323" y="20323"/>
                  </a:lnTo>
                  <a:lnTo>
                    <a:pt x="42393" y="5451"/>
                  </a:lnTo>
                  <a:lnTo>
                    <a:pt x="69437" y="0"/>
                  </a:lnTo>
                  <a:lnTo>
                    <a:pt x="7987188" y="0"/>
                  </a:lnTo>
                  <a:lnTo>
                    <a:pt x="8014232" y="5451"/>
                  </a:lnTo>
                  <a:lnTo>
                    <a:pt x="8036301" y="20323"/>
                  </a:lnTo>
                  <a:lnTo>
                    <a:pt x="8051174" y="42393"/>
                  </a:lnTo>
                  <a:lnTo>
                    <a:pt x="8056625" y="69437"/>
                  </a:lnTo>
                  <a:lnTo>
                    <a:pt x="8056625" y="1499520"/>
                  </a:lnTo>
                  <a:lnTo>
                    <a:pt x="8051174" y="1526564"/>
                  </a:lnTo>
                  <a:lnTo>
                    <a:pt x="8036301" y="1548633"/>
                  </a:lnTo>
                  <a:lnTo>
                    <a:pt x="8014232" y="1563506"/>
                  </a:lnTo>
                  <a:lnTo>
                    <a:pt x="7987188" y="1568957"/>
                  </a:lnTo>
                  <a:close/>
                </a:path>
              </a:pathLst>
            </a:custGeom>
            <a:solidFill>
              <a:srgbClr val="E9F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3434" y="3282314"/>
              <a:ext cx="8056880" cy="1569085"/>
            </a:xfrm>
            <a:custGeom>
              <a:avLst/>
              <a:gdLst/>
              <a:ahLst/>
              <a:cxnLst/>
              <a:rect l="l" t="t" r="r" b="b"/>
              <a:pathLst>
                <a:path w="8056880" h="1569085">
                  <a:moveTo>
                    <a:pt x="0" y="69441"/>
                  </a:moveTo>
                  <a:lnTo>
                    <a:pt x="5450" y="42396"/>
                  </a:lnTo>
                  <a:lnTo>
                    <a:pt x="20322" y="20325"/>
                  </a:lnTo>
                  <a:lnTo>
                    <a:pt x="42392" y="5451"/>
                  </a:lnTo>
                  <a:lnTo>
                    <a:pt x="69437" y="0"/>
                  </a:lnTo>
                  <a:lnTo>
                    <a:pt x="7987076" y="0"/>
                  </a:lnTo>
                  <a:lnTo>
                    <a:pt x="8014157" y="5400"/>
                  </a:lnTo>
                  <a:lnTo>
                    <a:pt x="8036269" y="20274"/>
                  </a:lnTo>
                  <a:lnTo>
                    <a:pt x="8051146" y="42340"/>
                  </a:lnTo>
                  <a:lnTo>
                    <a:pt x="8056626" y="69441"/>
                  </a:lnTo>
                  <a:lnTo>
                    <a:pt x="8056624" y="1499527"/>
                  </a:lnTo>
                  <a:lnTo>
                    <a:pt x="8051146" y="1526605"/>
                  </a:lnTo>
                  <a:lnTo>
                    <a:pt x="8036232" y="1548681"/>
                  </a:lnTo>
                  <a:lnTo>
                    <a:pt x="8014162" y="1563553"/>
                  </a:lnTo>
                  <a:lnTo>
                    <a:pt x="7987076" y="1568957"/>
                  </a:lnTo>
                  <a:lnTo>
                    <a:pt x="69433" y="1568957"/>
                  </a:lnTo>
                  <a:lnTo>
                    <a:pt x="20316" y="1548622"/>
                  </a:lnTo>
                  <a:lnTo>
                    <a:pt x="0" y="1499504"/>
                  </a:lnTo>
                  <a:lnTo>
                    <a:pt x="0" y="69441"/>
                  </a:lnTo>
                </a:path>
              </a:pathLst>
            </a:custGeom>
            <a:ln w="38099">
              <a:solidFill>
                <a:srgbClr val="007C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84579" y="3545078"/>
            <a:ext cx="1075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70" dirty="0">
                <a:solidFill>
                  <a:srgbClr val="007CC2"/>
                </a:solidFill>
                <a:latin typeface="Arial"/>
                <a:cs typeface="Arial"/>
              </a:rPr>
              <a:t>AI</a:t>
            </a:r>
            <a:r>
              <a:rPr sz="1800" b="1" spc="320" dirty="0">
                <a:solidFill>
                  <a:srgbClr val="007CC2"/>
                </a:solidFill>
                <a:latin typeface="Arial"/>
                <a:cs typeface="Arial"/>
              </a:rPr>
              <a:t> </a:t>
            </a:r>
            <a:r>
              <a:rPr sz="1800" b="1" spc="95" dirty="0">
                <a:solidFill>
                  <a:srgbClr val="007CC2"/>
                </a:solidFill>
                <a:latin typeface="Arial"/>
                <a:cs typeface="Arial"/>
              </a:rPr>
              <a:t>ROLE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69411" y="3490214"/>
            <a:ext cx="5184140" cy="10998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Qualcomm Cloud LLM acts as an 'AI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Referee',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ingesting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live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race telemetry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(e.g., 0.07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ms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vs </a:t>
            </a:r>
            <a:r>
              <a:rPr sz="1800" spc="-20" dirty="0">
                <a:solidFill>
                  <a:srgbClr val="1F2937"/>
                </a:solidFill>
                <a:latin typeface="Arial"/>
                <a:cs typeface="Arial"/>
              </a:rPr>
              <a:t>1500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ms)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to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dynamically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explain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the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'No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Free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Lunch'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scaling laws to the user without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hardcoding.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161143" y="3263264"/>
            <a:ext cx="8094980" cy="1607185"/>
            <a:chOff x="9161143" y="3263264"/>
            <a:chExt cx="8094980" cy="1607185"/>
          </a:xfrm>
        </p:grpSpPr>
        <p:sp>
          <p:nvSpPr>
            <p:cNvPr id="14" name="object 14"/>
            <p:cNvSpPr/>
            <p:nvPr/>
          </p:nvSpPr>
          <p:spPr>
            <a:xfrm>
              <a:off x="9180194" y="3282314"/>
              <a:ext cx="8056880" cy="1569085"/>
            </a:xfrm>
            <a:custGeom>
              <a:avLst/>
              <a:gdLst/>
              <a:ahLst/>
              <a:cxnLst/>
              <a:rect l="l" t="t" r="r" b="b"/>
              <a:pathLst>
                <a:path w="8056880" h="1569085">
                  <a:moveTo>
                    <a:pt x="7987188" y="1568957"/>
                  </a:moveTo>
                  <a:lnTo>
                    <a:pt x="69437" y="1568957"/>
                  </a:lnTo>
                  <a:lnTo>
                    <a:pt x="42393" y="1563506"/>
                  </a:lnTo>
                  <a:lnTo>
                    <a:pt x="20323" y="1548633"/>
                  </a:lnTo>
                  <a:lnTo>
                    <a:pt x="5451" y="1526564"/>
                  </a:lnTo>
                  <a:lnTo>
                    <a:pt x="0" y="1499520"/>
                  </a:lnTo>
                  <a:lnTo>
                    <a:pt x="0" y="69437"/>
                  </a:lnTo>
                  <a:lnTo>
                    <a:pt x="5451" y="42393"/>
                  </a:lnTo>
                  <a:lnTo>
                    <a:pt x="20323" y="20323"/>
                  </a:lnTo>
                  <a:lnTo>
                    <a:pt x="42393" y="5451"/>
                  </a:lnTo>
                  <a:lnTo>
                    <a:pt x="69437" y="0"/>
                  </a:lnTo>
                  <a:lnTo>
                    <a:pt x="7987188" y="0"/>
                  </a:lnTo>
                  <a:lnTo>
                    <a:pt x="8014232" y="5451"/>
                  </a:lnTo>
                  <a:lnTo>
                    <a:pt x="8036301" y="20323"/>
                  </a:lnTo>
                  <a:lnTo>
                    <a:pt x="8051174" y="42393"/>
                  </a:lnTo>
                  <a:lnTo>
                    <a:pt x="8056625" y="69437"/>
                  </a:lnTo>
                  <a:lnTo>
                    <a:pt x="8056625" y="1499520"/>
                  </a:lnTo>
                  <a:lnTo>
                    <a:pt x="8051174" y="1526564"/>
                  </a:lnTo>
                  <a:lnTo>
                    <a:pt x="8036301" y="1548633"/>
                  </a:lnTo>
                  <a:lnTo>
                    <a:pt x="8014232" y="1563506"/>
                  </a:lnTo>
                  <a:lnTo>
                    <a:pt x="7987188" y="1568957"/>
                  </a:lnTo>
                  <a:close/>
                </a:path>
              </a:pathLst>
            </a:custGeom>
            <a:solidFill>
              <a:srgbClr val="F2E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80193" y="3282314"/>
              <a:ext cx="8056880" cy="1569085"/>
            </a:xfrm>
            <a:custGeom>
              <a:avLst/>
              <a:gdLst/>
              <a:ahLst/>
              <a:cxnLst/>
              <a:rect l="l" t="t" r="r" b="b"/>
              <a:pathLst>
                <a:path w="8056880" h="1569085">
                  <a:moveTo>
                    <a:pt x="0" y="69441"/>
                  </a:moveTo>
                  <a:lnTo>
                    <a:pt x="5450" y="42396"/>
                  </a:lnTo>
                  <a:lnTo>
                    <a:pt x="20322" y="20325"/>
                  </a:lnTo>
                  <a:lnTo>
                    <a:pt x="42392" y="5451"/>
                  </a:lnTo>
                  <a:lnTo>
                    <a:pt x="69436" y="0"/>
                  </a:lnTo>
                  <a:lnTo>
                    <a:pt x="7987076" y="0"/>
                  </a:lnTo>
                  <a:lnTo>
                    <a:pt x="8014156" y="5400"/>
                  </a:lnTo>
                  <a:lnTo>
                    <a:pt x="8036269" y="20274"/>
                  </a:lnTo>
                  <a:lnTo>
                    <a:pt x="8051146" y="42340"/>
                  </a:lnTo>
                  <a:lnTo>
                    <a:pt x="8056626" y="69441"/>
                  </a:lnTo>
                  <a:lnTo>
                    <a:pt x="8056624" y="1499527"/>
                  </a:lnTo>
                  <a:lnTo>
                    <a:pt x="8051146" y="1526605"/>
                  </a:lnTo>
                  <a:lnTo>
                    <a:pt x="8036232" y="1548681"/>
                  </a:lnTo>
                  <a:lnTo>
                    <a:pt x="8014162" y="1563553"/>
                  </a:lnTo>
                  <a:lnTo>
                    <a:pt x="7987076" y="1568957"/>
                  </a:lnTo>
                  <a:lnTo>
                    <a:pt x="69433" y="1568956"/>
                  </a:lnTo>
                  <a:lnTo>
                    <a:pt x="20316" y="1548622"/>
                  </a:lnTo>
                  <a:lnTo>
                    <a:pt x="0" y="1499504"/>
                  </a:lnTo>
                  <a:lnTo>
                    <a:pt x="0" y="69441"/>
                  </a:lnTo>
                </a:path>
              </a:pathLst>
            </a:custGeom>
            <a:ln w="38099">
              <a:solidFill>
                <a:srgbClr val="531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327895" y="3641204"/>
            <a:ext cx="20726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20" dirty="0">
                <a:solidFill>
                  <a:srgbClr val="5317A7"/>
                </a:solidFill>
                <a:latin typeface="Arial"/>
                <a:cs typeface="Arial"/>
              </a:rPr>
              <a:t>INPUT</a:t>
            </a:r>
            <a:r>
              <a:rPr sz="1800" b="1" spc="315" dirty="0">
                <a:solidFill>
                  <a:srgbClr val="5317A7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317A7"/>
                </a:solidFill>
                <a:latin typeface="Arial"/>
                <a:cs typeface="Arial"/>
              </a:rPr>
              <a:t>&amp;</a:t>
            </a:r>
            <a:r>
              <a:rPr sz="1800" b="1" spc="315" dirty="0">
                <a:solidFill>
                  <a:srgbClr val="5317A7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5317A7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536171" y="3499739"/>
            <a:ext cx="5235575" cy="83311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N-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Queens board or fixed 8-item Knapsack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encoded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as binary variables; solved by annealing, D-</a:t>
            </a:r>
            <a:r>
              <a:rPr sz="1800" spc="-20" dirty="0">
                <a:solidFill>
                  <a:srgbClr val="1F2937"/>
                </a:solidFill>
                <a:latin typeface="Arial"/>
                <a:cs typeface="Arial"/>
              </a:rPr>
              <a:t>Wave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Neal or Qiskit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QAOA.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94384" y="5210936"/>
            <a:ext cx="8094980" cy="1607185"/>
            <a:chOff x="794384" y="5210936"/>
            <a:chExt cx="8094980" cy="1607185"/>
          </a:xfrm>
        </p:grpSpPr>
        <p:sp>
          <p:nvSpPr>
            <p:cNvPr id="19" name="object 19"/>
            <p:cNvSpPr/>
            <p:nvPr/>
          </p:nvSpPr>
          <p:spPr>
            <a:xfrm>
              <a:off x="813435" y="5229986"/>
              <a:ext cx="8056880" cy="1569085"/>
            </a:xfrm>
            <a:custGeom>
              <a:avLst/>
              <a:gdLst/>
              <a:ahLst/>
              <a:cxnLst/>
              <a:rect l="l" t="t" r="r" b="b"/>
              <a:pathLst>
                <a:path w="8056880" h="1569084">
                  <a:moveTo>
                    <a:pt x="7987188" y="1568957"/>
                  </a:moveTo>
                  <a:lnTo>
                    <a:pt x="69437" y="1568957"/>
                  </a:lnTo>
                  <a:lnTo>
                    <a:pt x="42393" y="1563506"/>
                  </a:lnTo>
                  <a:lnTo>
                    <a:pt x="20323" y="1548633"/>
                  </a:lnTo>
                  <a:lnTo>
                    <a:pt x="5451" y="1526564"/>
                  </a:lnTo>
                  <a:lnTo>
                    <a:pt x="0" y="1499520"/>
                  </a:lnTo>
                  <a:lnTo>
                    <a:pt x="0" y="69437"/>
                  </a:lnTo>
                  <a:lnTo>
                    <a:pt x="5451" y="42393"/>
                  </a:lnTo>
                  <a:lnTo>
                    <a:pt x="20323" y="20323"/>
                  </a:lnTo>
                  <a:lnTo>
                    <a:pt x="42393" y="5451"/>
                  </a:lnTo>
                  <a:lnTo>
                    <a:pt x="69437" y="0"/>
                  </a:lnTo>
                  <a:lnTo>
                    <a:pt x="7987188" y="0"/>
                  </a:lnTo>
                  <a:lnTo>
                    <a:pt x="8014232" y="5451"/>
                  </a:lnTo>
                  <a:lnTo>
                    <a:pt x="8036301" y="20323"/>
                  </a:lnTo>
                  <a:lnTo>
                    <a:pt x="8051174" y="42393"/>
                  </a:lnTo>
                  <a:lnTo>
                    <a:pt x="8056625" y="69437"/>
                  </a:lnTo>
                  <a:lnTo>
                    <a:pt x="8056625" y="1499520"/>
                  </a:lnTo>
                  <a:lnTo>
                    <a:pt x="8051174" y="1526564"/>
                  </a:lnTo>
                  <a:lnTo>
                    <a:pt x="8036301" y="1548633"/>
                  </a:lnTo>
                  <a:lnTo>
                    <a:pt x="8014232" y="1563506"/>
                  </a:lnTo>
                  <a:lnTo>
                    <a:pt x="7987188" y="1568957"/>
                  </a:lnTo>
                  <a:close/>
                </a:path>
              </a:pathLst>
            </a:custGeom>
            <a:solidFill>
              <a:srgbClr val="FFF4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13434" y="5229986"/>
              <a:ext cx="8056880" cy="1569085"/>
            </a:xfrm>
            <a:custGeom>
              <a:avLst/>
              <a:gdLst/>
              <a:ahLst/>
              <a:cxnLst/>
              <a:rect l="l" t="t" r="r" b="b"/>
              <a:pathLst>
                <a:path w="8056880" h="1569084">
                  <a:moveTo>
                    <a:pt x="0" y="69441"/>
                  </a:moveTo>
                  <a:lnTo>
                    <a:pt x="5450" y="42396"/>
                  </a:lnTo>
                  <a:lnTo>
                    <a:pt x="20322" y="20325"/>
                  </a:lnTo>
                  <a:lnTo>
                    <a:pt x="42392" y="5451"/>
                  </a:lnTo>
                  <a:lnTo>
                    <a:pt x="69436" y="0"/>
                  </a:lnTo>
                  <a:lnTo>
                    <a:pt x="7987076" y="0"/>
                  </a:lnTo>
                  <a:lnTo>
                    <a:pt x="8014157" y="5400"/>
                  </a:lnTo>
                  <a:lnTo>
                    <a:pt x="8036269" y="20274"/>
                  </a:lnTo>
                  <a:lnTo>
                    <a:pt x="8051146" y="42340"/>
                  </a:lnTo>
                  <a:lnTo>
                    <a:pt x="8056626" y="69441"/>
                  </a:lnTo>
                  <a:lnTo>
                    <a:pt x="8056624" y="1499527"/>
                  </a:lnTo>
                  <a:lnTo>
                    <a:pt x="8051146" y="1526605"/>
                  </a:lnTo>
                  <a:lnTo>
                    <a:pt x="8036232" y="1548681"/>
                  </a:lnTo>
                  <a:lnTo>
                    <a:pt x="8014162" y="1563553"/>
                  </a:lnTo>
                  <a:lnTo>
                    <a:pt x="7987076" y="1568957"/>
                  </a:lnTo>
                  <a:lnTo>
                    <a:pt x="69433" y="1568957"/>
                  </a:lnTo>
                  <a:lnTo>
                    <a:pt x="20316" y="1548622"/>
                  </a:lnTo>
                  <a:lnTo>
                    <a:pt x="0" y="1499504"/>
                  </a:lnTo>
                  <a:lnTo>
                    <a:pt x="0" y="69441"/>
                  </a:lnTo>
                </a:path>
              </a:pathLst>
            </a:custGeom>
            <a:ln w="38099">
              <a:solidFill>
                <a:srgbClr val="F18B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83351" y="5591047"/>
            <a:ext cx="2148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30" dirty="0">
                <a:solidFill>
                  <a:srgbClr val="F18B28"/>
                </a:solidFill>
                <a:latin typeface="Arial"/>
                <a:cs typeface="Arial"/>
              </a:rPr>
              <a:t>QUALITY</a:t>
            </a:r>
            <a:r>
              <a:rPr sz="1800" b="1" spc="315" dirty="0">
                <a:solidFill>
                  <a:srgbClr val="F18B28"/>
                </a:solidFill>
                <a:latin typeface="Arial"/>
                <a:cs typeface="Arial"/>
              </a:rPr>
              <a:t> </a:t>
            </a:r>
            <a:r>
              <a:rPr sz="1800" b="1" spc="110" dirty="0">
                <a:solidFill>
                  <a:srgbClr val="F18B28"/>
                </a:solidFill>
                <a:latin typeface="Arial"/>
                <a:cs typeface="Arial"/>
              </a:rPr>
              <a:t>CHECK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69411" y="5447410"/>
            <a:ext cx="4841875" cy="83311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The exact solver gives the proven optimum </a:t>
            </a:r>
            <a:r>
              <a:rPr sz="1800" spc="-25" dirty="0">
                <a:solidFill>
                  <a:srgbClr val="1F2937"/>
                </a:solidFill>
                <a:latin typeface="Arial"/>
                <a:cs typeface="Arial"/>
              </a:rPr>
              <a:t>as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ground truth; seed 42 makes runs repeatable; </a:t>
            </a:r>
            <a:r>
              <a:rPr sz="1800" spc="-50" dirty="0">
                <a:solidFill>
                  <a:srgbClr val="1F2937"/>
                </a:solidFill>
                <a:latin typeface="Arial"/>
                <a:cs typeface="Arial"/>
              </a:rPr>
              <a:t>a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repair loop enforces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feasibility.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161143" y="5210936"/>
            <a:ext cx="8094980" cy="1607185"/>
            <a:chOff x="9161143" y="5210936"/>
            <a:chExt cx="8094980" cy="1607185"/>
          </a:xfrm>
        </p:grpSpPr>
        <p:sp>
          <p:nvSpPr>
            <p:cNvPr id="24" name="object 24"/>
            <p:cNvSpPr/>
            <p:nvPr/>
          </p:nvSpPr>
          <p:spPr>
            <a:xfrm>
              <a:off x="9180194" y="5229986"/>
              <a:ext cx="8056880" cy="1569085"/>
            </a:xfrm>
            <a:custGeom>
              <a:avLst/>
              <a:gdLst/>
              <a:ahLst/>
              <a:cxnLst/>
              <a:rect l="l" t="t" r="r" b="b"/>
              <a:pathLst>
                <a:path w="8056880" h="1569084">
                  <a:moveTo>
                    <a:pt x="7987188" y="1568957"/>
                  </a:moveTo>
                  <a:lnTo>
                    <a:pt x="69437" y="1568957"/>
                  </a:lnTo>
                  <a:lnTo>
                    <a:pt x="42393" y="1563506"/>
                  </a:lnTo>
                  <a:lnTo>
                    <a:pt x="20323" y="1548633"/>
                  </a:lnTo>
                  <a:lnTo>
                    <a:pt x="5451" y="1526564"/>
                  </a:lnTo>
                  <a:lnTo>
                    <a:pt x="0" y="1499520"/>
                  </a:lnTo>
                  <a:lnTo>
                    <a:pt x="0" y="69437"/>
                  </a:lnTo>
                  <a:lnTo>
                    <a:pt x="5451" y="42393"/>
                  </a:lnTo>
                  <a:lnTo>
                    <a:pt x="20323" y="20323"/>
                  </a:lnTo>
                  <a:lnTo>
                    <a:pt x="42393" y="5451"/>
                  </a:lnTo>
                  <a:lnTo>
                    <a:pt x="69437" y="0"/>
                  </a:lnTo>
                  <a:lnTo>
                    <a:pt x="7987188" y="0"/>
                  </a:lnTo>
                  <a:lnTo>
                    <a:pt x="8014232" y="5451"/>
                  </a:lnTo>
                  <a:lnTo>
                    <a:pt x="8036301" y="20323"/>
                  </a:lnTo>
                  <a:lnTo>
                    <a:pt x="8051174" y="42393"/>
                  </a:lnTo>
                  <a:lnTo>
                    <a:pt x="8056625" y="69437"/>
                  </a:lnTo>
                  <a:lnTo>
                    <a:pt x="8056625" y="1499520"/>
                  </a:lnTo>
                  <a:lnTo>
                    <a:pt x="8051174" y="1526564"/>
                  </a:lnTo>
                  <a:lnTo>
                    <a:pt x="8036301" y="1548633"/>
                  </a:lnTo>
                  <a:lnTo>
                    <a:pt x="8014232" y="1563506"/>
                  </a:lnTo>
                  <a:lnTo>
                    <a:pt x="7987188" y="1568957"/>
                  </a:lnTo>
                  <a:close/>
                </a:path>
              </a:pathLst>
            </a:custGeom>
            <a:solidFill>
              <a:srgbClr val="EFF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80193" y="5229986"/>
              <a:ext cx="8056880" cy="1569085"/>
            </a:xfrm>
            <a:custGeom>
              <a:avLst/>
              <a:gdLst/>
              <a:ahLst/>
              <a:cxnLst/>
              <a:rect l="l" t="t" r="r" b="b"/>
              <a:pathLst>
                <a:path w="8056880" h="1569084">
                  <a:moveTo>
                    <a:pt x="0" y="69441"/>
                  </a:moveTo>
                  <a:lnTo>
                    <a:pt x="5450" y="42396"/>
                  </a:lnTo>
                  <a:lnTo>
                    <a:pt x="20322" y="20325"/>
                  </a:lnTo>
                  <a:lnTo>
                    <a:pt x="42392" y="5451"/>
                  </a:lnTo>
                  <a:lnTo>
                    <a:pt x="69436" y="0"/>
                  </a:lnTo>
                  <a:lnTo>
                    <a:pt x="7987075" y="0"/>
                  </a:lnTo>
                  <a:lnTo>
                    <a:pt x="8014156" y="5400"/>
                  </a:lnTo>
                  <a:lnTo>
                    <a:pt x="8036268" y="20274"/>
                  </a:lnTo>
                  <a:lnTo>
                    <a:pt x="8051146" y="42340"/>
                  </a:lnTo>
                  <a:lnTo>
                    <a:pt x="8056626" y="69441"/>
                  </a:lnTo>
                  <a:lnTo>
                    <a:pt x="8056624" y="1499527"/>
                  </a:lnTo>
                  <a:lnTo>
                    <a:pt x="8051146" y="1526605"/>
                  </a:lnTo>
                  <a:lnTo>
                    <a:pt x="8036232" y="1548681"/>
                  </a:lnTo>
                  <a:lnTo>
                    <a:pt x="8014162" y="1563553"/>
                  </a:lnTo>
                  <a:lnTo>
                    <a:pt x="7987075" y="1568957"/>
                  </a:lnTo>
                  <a:lnTo>
                    <a:pt x="69433" y="1568956"/>
                  </a:lnTo>
                  <a:lnTo>
                    <a:pt x="20316" y="1548622"/>
                  </a:lnTo>
                  <a:lnTo>
                    <a:pt x="0" y="1499504"/>
                  </a:lnTo>
                  <a:lnTo>
                    <a:pt x="0" y="69441"/>
                  </a:lnTo>
                </a:path>
              </a:pathLst>
            </a:custGeom>
            <a:ln w="38099">
              <a:solidFill>
                <a:srgbClr val="62A7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373908" y="5639662"/>
            <a:ext cx="2212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20" dirty="0">
                <a:solidFill>
                  <a:srgbClr val="62A745"/>
                </a:solidFill>
                <a:latin typeface="Arial"/>
                <a:cs typeface="Arial"/>
              </a:rPr>
              <a:t>VALUE</a:t>
            </a:r>
            <a:r>
              <a:rPr sz="1800" b="1" spc="315" dirty="0">
                <a:solidFill>
                  <a:srgbClr val="62A745"/>
                </a:solidFill>
                <a:latin typeface="Arial"/>
                <a:cs typeface="Arial"/>
              </a:rPr>
              <a:t> </a:t>
            </a:r>
            <a:r>
              <a:rPr sz="1800" b="1" spc="120" dirty="0">
                <a:solidFill>
                  <a:srgbClr val="62A745"/>
                </a:solidFill>
                <a:latin typeface="Arial"/>
                <a:cs typeface="Arial"/>
              </a:rPr>
              <a:t>CREATED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710288" y="5580760"/>
            <a:ext cx="532384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Turns abstract quantum claims into something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users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can see, test and predict, with XP for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learning.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94594" y="7007972"/>
            <a:ext cx="16539844" cy="1543685"/>
            <a:chOff x="794594" y="7007972"/>
            <a:chExt cx="16539844" cy="1543685"/>
          </a:xfrm>
        </p:grpSpPr>
        <p:sp>
          <p:nvSpPr>
            <p:cNvPr id="29" name="object 29"/>
            <p:cNvSpPr/>
            <p:nvPr/>
          </p:nvSpPr>
          <p:spPr>
            <a:xfrm>
              <a:off x="827055" y="7075121"/>
              <a:ext cx="16490950" cy="1459230"/>
            </a:xfrm>
            <a:custGeom>
              <a:avLst/>
              <a:gdLst/>
              <a:ahLst/>
              <a:cxnLst/>
              <a:rect l="l" t="t" r="r" b="b"/>
              <a:pathLst>
                <a:path w="16490950" h="1459229">
                  <a:moveTo>
                    <a:pt x="16408431" y="1459229"/>
                  </a:moveTo>
                  <a:lnTo>
                    <a:pt x="83343" y="1459229"/>
                  </a:lnTo>
                  <a:lnTo>
                    <a:pt x="50912" y="1452677"/>
                  </a:lnTo>
                  <a:lnTo>
                    <a:pt x="24419" y="1434810"/>
                  </a:lnTo>
                  <a:lnTo>
                    <a:pt x="6552" y="1408317"/>
                  </a:lnTo>
                  <a:lnTo>
                    <a:pt x="0" y="1375886"/>
                  </a:lnTo>
                  <a:lnTo>
                    <a:pt x="0" y="83343"/>
                  </a:lnTo>
                  <a:lnTo>
                    <a:pt x="6552" y="50912"/>
                  </a:lnTo>
                  <a:lnTo>
                    <a:pt x="24419" y="24419"/>
                  </a:lnTo>
                  <a:lnTo>
                    <a:pt x="50912" y="6553"/>
                  </a:lnTo>
                  <a:lnTo>
                    <a:pt x="83343" y="0"/>
                  </a:lnTo>
                  <a:lnTo>
                    <a:pt x="16408431" y="0"/>
                  </a:lnTo>
                  <a:lnTo>
                    <a:pt x="16440862" y="6553"/>
                  </a:lnTo>
                  <a:lnTo>
                    <a:pt x="16467355" y="24419"/>
                  </a:lnTo>
                  <a:lnTo>
                    <a:pt x="16485222" y="50912"/>
                  </a:lnTo>
                  <a:lnTo>
                    <a:pt x="16490438" y="76726"/>
                  </a:lnTo>
                  <a:lnTo>
                    <a:pt x="16490438" y="1382504"/>
                  </a:lnTo>
                  <a:lnTo>
                    <a:pt x="16485222" y="1408317"/>
                  </a:lnTo>
                  <a:lnTo>
                    <a:pt x="16467355" y="1434810"/>
                  </a:lnTo>
                  <a:lnTo>
                    <a:pt x="16440862" y="1452677"/>
                  </a:lnTo>
                  <a:lnTo>
                    <a:pt x="16408431" y="1459229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27699" y="7075122"/>
              <a:ext cx="16487140" cy="1457325"/>
            </a:xfrm>
            <a:custGeom>
              <a:avLst/>
              <a:gdLst/>
              <a:ahLst/>
              <a:cxnLst/>
              <a:rect l="l" t="t" r="r" b="b"/>
              <a:pathLst>
                <a:path w="16487140" h="1457325">
                  <a:moveTo>
                    <a:pt x="16487130" y="1392095"/>
                  </a:moveTo>
                  <a:lnTo>
                    <a:pt x="16483875" y="1408201"/>
                  </a:lnTo>
                  <a:lnTo>
                    <a:pt x="16466010" y="1434692"/>
                  </a:lnTo>
                  <a:lnTo>
                    <a:pt x="16439519" y="1452558"/>
                  </a:lnTo>
                  <a:lnTo>
                    <a:pt x="16415928" y="1457324"/>
                  </a:lnTo>
                </a:path>
                <a:path w="16487140" h="1457325">
                  <a:moveTo>
                    <a:pt x="74498" y="1457324"/>
                  </a:moveTo>
                  <a:lnTo>
                    <a:pt x="50908" y="1452558"/>
                  </a:lnTo>
                  <a:lnTo>
                    <a:pt x="24417" y="1434692"/>
                  </a:lnTo>
                  <a:lnTo>
                    <a:pt x="6552" y="1408202"/>
                  </a:lnTo>
                  <a:lnTo>
                    <a:pt x="0" y="1375773"/>
                  </a:lnTo>
                  <a:lnTo>
                    <a:pt x="0" y="83336"/>
                  </a:lnTo>
                  <a:lnTo>
                    <a:pt x="6552" y="50908"/>
                  </a:lnTo>
                  <a:lnTo>
                    <a:pt x="24417" y="24417"/>
                  </a:lnTo>
                  <a:lnTo>
                    <a:pt x="50908" y="6552"/>
                  </a:lnTo>
                  <a:lnTo>
                    <a:pt x="83336" y="0"/>
                  </a:lnTo>
                  <a:lnTo>
                    <a:pt x="16407090" y="0"/>
                  </a:lnTo>
                  <a:lnTo>
                    <a:pt x="16439519" y="6552"/>
                  </a:lnTo>
                  <a:lnTo>
                    <a:pt x="16466010" y="24417"/>
                  </a:lnTo>
                  <a:lnTo>
                    <a:pt x="16483875" y="50908"/>
                  </a:lnTo>
                  <a:lnTo>
                    <a:pt x="16487130" y="67014"/>
                  </a:lnTo>
                </a:path>
              </a:pathLst>
            </a:custGeom>
            <a:ln w="38099">
              <a:solidFill>
                <a:srgbClr val="DBE4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13644" y="7026782"/>
              <a:ext cx="139700" cy="1459865"/>
            </a:xfrm>
            <a:custGeom>
              <a:avLst/>
              <a:gdLst/>
              <a:ahLst/>
              <a:cxnLst/>
              <a:rect l="l" t="t" r="r" b="b"/>
              <a:pathLst>
                <a:path w="139700" h="1459865">
                  <a:moveTo>
                    <a:pt x="139360" y="1459472"/>
                  </a:moveTo>
                  <a:lnTo>
                    <a:pt x="0" y="1459472"/>
                  </a:lnTo>
                  <a:lnTo>
                    <a:pt x="0" y="0"/>
                  </a:lnTo>
                  <a:lnTo>
                    <a:pt x="139360" y="0"/>
                  </a:lnTo>
                  <a:lnTo>
                    <a:pt x="139360" y="1459472"/>
                  </a:lnTo>
                  <a:close/>
                </a:path>
              </a:pathLst>
            </a:custGeom>
            <a:solidFill>
              <a:srgbClr val="F18B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13644" y="7027022"/>
              <a:ext cx="139700" cy="1459230"/>
            </a:xfrm>
            <a:custGeom>
              <a:avLst/>
              <a:gdLst/>
              <a:ahLst/>
              <a:cxnLst/>
              <a:rect l="l" t="t" r="r" b="b"/>
              <a:pathLst>
                <a:path w="139700" h="1459229">
                  <a:moveTo>
                    <a:pt x="0" y="0"/>
                  </a:moveTo>
                  <a:lnTo>
                    <a:pt x="139293" y="0"/>
                  </a:lnTo>
                  <a:lnTo>
                    <a:pt x="139293" y="1458631"/>
                  </a:lnTo>
                  <a:lnTo>
                    <a:pt x="0" y="1458631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18B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052296" y="7628344"/>
            <a:ext cx="1803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0" dirty="0">
                <a:solidFill>
                  <a:srgbClr val="F18B28"/>
                </a:solidFill>
                <a:latin typeface="Arial"/>
                <a:cs typeface="Arial"/>
              </a:rPr>
              <a:t>WHAT</a:t>
            </a:r>
            <a:r>
              <a:rPr sz="1800" b="1" spc="280" dirty="0">
                <a:solidFill>
                  <a:srgbClr val="F18B28"/>
                </a:solidFill>
                <a:latin typeface="Arial"/>
                <a:cs typeface="Arial"/>
              </a:rPr>
              <a:t> </a:t>
            </a:r>
            <a:r>
              <a:rPr sz="1800" b="1" spc="60" dirty="0">
                <a:solidFill>
                  <a:srgbClr val="F18B28"/>
                </a:solidFill>
                <a:latin typeface="Arial"/>
                <a:cs typeface="Arial"/>
              </a:rPr>
              <a:t>TO</a:t>
            </a:r>
            <a:r>
              <a:rPr sz="1800" b="1" spc="285" dirty="0">
                <a:solidFill>
                  <a:srgbClr val="F18B28"/>
                </a:solidFill>
                <a:latin typeface="Arial"/>
                <a:cs typeface="Arial"/>
              </a:rPr>
              <a:t> </a:t>
            </a:r>
            <a:r>
              <a:rPr sz="1800" b="1" spc="60" dirty="0">
                <a:solidFill>
                  <a:srgbClr val="F18B28"/>
                </a:solidFill>
                <a:latin typeface="Arial"/>
                <a:cs typeface="Arial"/>
              </a:rPr>
              <a:t>SAY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1509" y="7627619"/>
            <a:ext cx="66675" cy="66674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3320620" y="7491094"/>
            <a:ext cx="13238480" cy="83311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We don't just show graphs. When QAOA takes 1.5 seconds and Brute Force takes fractions of a millisecond, our Qualcomm </a:t>
            </a:r>
            <a:r>
              <a:rPr sz="1800" spc="-25" dirty="0">
                <a:solidFill>
                  <a:srgbClr val="111726"/>
                </a:solidFill>
                <a:latin typeface="Arial"/>
                <a:cs typeface="Arial"/>
              </a:rPr>
              <a:t>AI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agent instantly explains the 'Simulation Tax' and why classical solvers win highly constrained local problems, while quantum </a:t>
            </a:r>
            <a:r>
              <a:rPr sz="1800" spc="-10" dirty="0">
                <a:solidFill>
                  <a:srgbClr val="111726"/>
                </a:solidFill>
                <a:latin typeface="Arial"/>
                <a:cs typeface="Arial"/>
              </a:rPr>
              <a:t>scales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for unconstrained </a:t>
            </a:r>
            <a:r>
              <a:rPr sz="1800" spc="-10" dirty="0">
                <a:solidFill>
                  <a:srgbClr val="111726"/>
                </a:solidFill>
                <a:latin typeface="Arial"/>
                <a:cs typeface="Arial"/>
              </a:rPr>
              <a:t>topologies.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085"/>
              </a:lnSpc>
            </a:pPr>
            <a:r>
              <a:rPr dirty="0"/>
              <a:t>© 2026 Infosys Limited. All rights </a:t>
            </a:r>
            <a:r>
              <a:rPr spc="-10" dirty="0"/>
              <a:t>reserved.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7354" rIns="0" bIns="0" rtlCol="0">
            <a:spAutoFit/>
          </a:bodyPr>
          <a:lstStyle/>
          <a:p>
            <a:pPr marL="67310">
              <a:lnSpc>
                <a:spcPts val="4750"/>
              </a:lnSpc>
              <a:spcBef>
                <a:spcPts val="100"/>
              </a:spcBef>
            </a:pPr>
            <a:r>
              <a:rPr spc="80" dirty="0"/>
              <a:t>Future</a:t>
            </a:r>
            <a:r>
              <a:rPr spc="-90" dirty="0"/>
              <a:t> </a:t>
            </a:r>
            <a:r>
              <a:rPr spc="165" dirty="0"/>
              <a:t>Enhancements,</a:t>
            </a:r>
            <a:r>
              <a:rPr spc="-90" dirty="0"/>
              <a:t> </a:t>
            </a:r>
            <a:r>
              <a:rPr spc="145" dirty="0"/>
              <a:t>Scalability</a:t>
            </a:r>
            <a:r>
              <a:rPr spc="-85" dirty="0"/>
              <a:t> </a:t>
            </a:r>
            <a:r>
              <a:rPr spc="-170" dirty="0"/>
              <a:t>&amp;</a:t>
            </a:r>
            <a:r>
              <a:rPr spc="-90" dirty="0"/>
              <a:t> </a:t>
            </a:r>
            <a:r>
              <a:rPr spc="105" dirty="0"/>
              <a:t>Security</a:t>
            </a:r>
          </a:p>
          <a:p>
            <a:pPr marL="67310">
              <a:lnSpc>
                <a:spcPts val="2110"/>
              </a:lnSpc>
            </a:pPr>
            <a:r>
              <a:rPr sz="1800" dirty="0">
                <a:solidFill>
                  <a:srgbClr val="5B6573"/>
                </a:solidFill>
                <a:latin typeface="Arial"/>
                <a:cs typeface="Arial"/>
              </a:rPr>
              <a:t>Credible next steps, with what works today kept separate from what is </a:t>
            </a:r>
            <a:r>
              <a:rPr sz="1800" spc="-10" dirty="0">
                <a:solidFill>
                  <a:srgbClr val="5B6573"/>
                </a:solidFill>
                <a:latin typeface="Arial"/>
                <a:cs typeface="Arial"/>
              </a:rPr>
              <a:t>planned.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88669" y="1817369"/>
            <a:ext cx="5061585" cy="5061585"/>
            <a:chOff x="788669" y="1817369"/>
            <a:chExt cx="5061585" cy="5061585"/>
          </a:xfrm>
        </p:grpSpPr>
        <p:sp>
          <p:nvSpPr>
            <p:cNvPr id="4" name="object 4"/>
            <p:cNvSpPr/>
            <p:nvPr/>
          </p:nvSpPr>
          <p:spPr>
            <a:xfrm>
              <a:off x="811529" y="1840229"/>
              <a:ext cx="5015865" cy="5015865"/>
            </a:xfrm>
            <a:custGeom>
              <a:avLst/>
              <a:gdLst/>
              <a:ahLst/>
              <a:cxnLst/>
              <a:rect l="l" t="t" r="r" b="b"/>
              <a:pathLst>
                <a:path w="5015865" h="5015865">
                  <a:moveTo>
                    <a:pt x="4946618" y="5015483"/>
                  </a:moveTo>
                  <a:lnTo>
                    <a:pt x="68865" y="5015483"/>
                  </a:lnTo>
                  <a:lnTo>
                    <a:pt x="42098" y="5010081"/>
                  </a:lnTo>
                  <a:lnTo>
                    <a:pt x="20198" y="4995338"/>
                  </a:lnTo>
                  <a:lnTo>
                    <a:pt x="5429" y="4973451"/>
                  </a:lnTo>
                  <a:lnTo>
                    <a:pt x="0" y="4946618"/>
                  </a:lnTo>
                  <a:lnTo>
                    <a:pt x="0" y="68865"/>
                  </a:lnTo>
                  <a:lnTo>
                    <a:pt x="5415" y="42072"/>
                  </a:lnTo>
                  <a:lnTo>
                    <a:pt x="20181" y="20181"/>
                  </a:lnTo>
                  <a:lnTo>
                    <a:pt x="42072" y="5415"/>
                  </a:lnTo>
                  <a:lnTo>
                    <a:pt x="68865" y="0"/>
                  </a:lnTo>
                  <a:lnTo>
                    <a:pt x="4946618" y="0"/>
                  </a:lnTo>
                  <a:lnTo>
                    <a:pt x="4973451" y="5415"/>
                  </a:lnTo>
                  <a:lnTo>
                    <a:pt x="4995338" y="20181"/>
                  </a:lnTo>
                  <a:lnTo>
                    <a:pt x="5010081" y="42072"/>
                  </a:lnTo>
                  <a:lnTo>
                    <a:pt x="5015483" y="68865"/>
                  </a:lnTo>
                  <a:lnTo>
                    <a:pt x="5015483" y="4946618"/>
                  </a:lnTo>
                  <a:lnTo>
                    <a:pt x="5010067" y="4973451"/>
                  </a:lnTo>
                  <a:lnTo>
                    <a:pt x="4995302" y="4995338"/>
                  </a:lnTo>
                  <a:lnTo>
                    <a:pt x="4973411" y="5010081"/>
                  </a:lnTo>
                  <a:lnTo>
                    <a:pt x="4946618" y="5015483"/>
                  </a:lnTo>
                  <a:close/>
                </a:path>
              </a:pathLst>
            </a:custGeom>
            <a:solidFill>
              <a:srgbClr val="E9F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1529" y="1840229"/>
              <a:ext cx="5015865" cy="5015865"/>
            </a:xfrm>
            <a:custGeom>
              <a:avLst/>
              <a:gdLst/>
              <a:ahLst/>
              <a:cxnLst/>
              <a:rect l="l" t="t" r="r" b="b"/>
              <a:pathLst>
                <a:path w="5015865" h="5015865">
                  <a:moveTo>
                    <a:pt x="0" y="68864"/>
                  </a:moveTo>
                  <a:lnTo>
                    <a:pt x="20180" y="20181"/>
                  </a:lnTo>
                  <a:lnTo>
                    <a:pt x="68864" y="0"/>
                  </a:lnTo>
                  <a:lnTo>
                    <a:pt x="4946494" y="0"/>
                  </a:lnTo>
                  <a:lnTo>
                    <a:pt x="4973366" y="5358"/>
                  </a:lnTo>
                  <a:lnTo>
                    <a:pt x="4995298" y="20123"/>
                  </a:lnTo>
                  <a:lnTo>
                    <a:pt x="5010049" y="42008"/>
                  </a:lnTo>
                  <a:lnTo>
                    <a:pt x="5015483" y="68863"/>
                  </a:lnTo>
                  <a:lnTo>
                    <a:pt x="5015358" y="4946618"/>
                  </a:lnTo>
                  <a:lnTo>
                    <a:pt x="4995177" y="4995213"/>
                  </a:lnTo>
                  <a:lnTo>
                    <a:pt x="4946613" y="5015459"/>
                  </a:lnTo>
                  <a:lnTo>
                    <a:pt x="68839" y="5015478"/>
                  </a:lnTo>
                  <a:lnTo>
                    <a:pt x="41987" y="5010006"/>
                  </a:lnTo>
                  <a:lnTo>
                    <a:pt x="20107" y="4995203"/>
                  </a:lnTo>
                  <a:lnTo>
                    <a:pt x="5344" y="4973325"/>
                  </a:lnTo>
                  <a:lnTo>
                    <a:pt x="0" y="4946494"/>
                  </a:lnTo>
                  <a:lnTo>
                    <a:pt x="0" y="68863"/>
                  </a:lnTo>
                </a:path>
              </a:pathLst>
            </a:custGeom>
            <a:ln w="45719">
              <a:solidFill>
                <a:srgbClr val="007C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04635" y="2292730"/>
            <a:ext cx="262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7CC2"/>
                </a:solidFill>
                <a:latin typeface="Arial"/>
                <a:cs typeface="Arial"/>
              </a:rPr>
              <a:t>NEXT </a:t>
            </a:r>
            <a:r>
              <a:rPr sz="1800" b="1" spc="-10" dirty="0">
                <a:solidFill>
                  <a:srgbClr val="007CC2"/>
                </a:solidFill>
                <a:latin typeface="Arial"/>
                <a:cs typeface="Arial"/>
              </a:rPr>
              <a:t>ENHANCEMENTS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78426" y="3057518"/>
            <a:ext cx="466725" cy="466725"/>
            <a:chOff x="1178426" y="3057518"/>
            <a:chExt cx="466725" cy="466725"/>
          </a:xfrm>
        </p:grpSpPr>
        <p:sp>
          <p:nvSpPr>
            <p:cNvPr id="8" name="object 8"/>
            <p:cNvSpPr/>
            <p:nvPr/>
          </p:nvSpPr>
          <p:spPr>
            <a:xfrm>
              <a:off x="1197482" y="3076574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30" h="430529">
                  <a:moveTo>
                    <a:pt x="215264" y="430529"/>
                  </a:moveTo>
                  <a:lnTo>
                    <a:pt x="165911" y="424843"/>
                  </a:lnTo>
                  <a:lnTo>
                    <a:pt x="120603" y="408647"/>
                  </a:lnTo>
                  <a:lnTo>
                    <a:pt x="80634" y="383233"/>
                  </a:lnTo>
                  <a:lnTo>
                    <a:pt x="47296" y="349895"/>
                  </a:lnTo>
                  <a:lnTo>
                    <a:pt x="21882" y="309926"/>
                  </a:lnTo>
                  <a:lnTo>
                    <a:pt x="5686" y="264618"/>
                  </a:lnTo>
                  <a:lnTo>
                    <a:pt x="0" y="215264"/>
                  </a:lnTo>
                  <a:lnTo>
                    <a:pt x="5686" y="165911"/>
                  </a:lnTo>
                  <a:lnTo>
                    <a:pt x="21882" y="120603"/>
                  </a:lnTo>
                  <a:lnTo>
                    <a:pt x="47296" y="80634"/>
                  </a:lnTo>
                  <a:lnTo>
                    <a:pt x="80634" y="47296"/>
                  </a:lnTo>
                  <a:lnTo>
                    <a:pt x="120603" y="21882"/>
                  </a:lnTo>
                  <a:lnTo>
                    <a:pt x="165911" y="5686"/>
                  </a:lnTo>
                  <a:lnTo>
                    <a:pt x="215264" y="0"/>
                  </a:lnTo>
                  <a:lnTo>
                    <a:pt x="264618" y="5686"/>
                  </a:lnTo>
                  <a:lnTo>
                    <a:pt x="309926" y="21882"/>
                  </a:lnTo>
                  <a:lnTo>
                    <a:pt x="349895" y="47296"/>
                  </a:lnTo>
                  <a:lnTo>
                    <a:pt x="383233" y="80634"/>
                  </a:lnTo>
                  <a:lnTo>
                    <a:pt x="408647" y="120603"/>
                  </a:lnTo>
                  <a:lnTo>
                    <a:pt x="424843" y="165911"/>
                  </a:lnTo>
                  <a:lnTo>
                    <a:pt x="430529" y="215264"/>
                  </a:lnTo>
                  <a:lnTo>
                    <a:pt x="424843" y="264618"/>
                  </a:lnTo>
                  <a:lnTo>
                    <a:pt x="408647" y="309926"/>
                  </a:lnTo>
                  <a:lnTo>
                    <a:pt x="383233" y="349895"/>
                  </a:lnTo>
                  <a:lnTo>
                    <a:pt x="349895" y="383233"/>
                  </a:lnTo>
                  <a:lnTo>
                    <a:pt x="309926" y="408647"/>
                  </a:lnTo>
                  <a:lnTo>
                    <a:pt x="264618" y="424843"/>
                  </a:lnTo>
                  <a:lnTo>
                    <a:pt x="215264" y="430529"/>
                  </a:lnTo>
                  <a:close/>
                </a:path>
              </a:pathLst>
            </a:custGeom>
            <a:solidFill>
              <a:srgbClr val="007C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4594" y="3303686"/>
              <a:ext cx="206062" cy="20606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97476" y="3076568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198744" y="428557"/>
                  </a:moveTo>
                  <a:lnTo>
                    <a:pt x="120535" y="408606"/>
                  </a:lnTo>
                  <a:lnTo>
                    <a:pt x="80576" y="383176"/>
                  </a:lnTo>
                  <a:lnTo>
                    <a:pt x="47254" y="349827"/>
                  </a:lnTo>
                  <a:lnTo>
                    <a:pt x="21860" y="309855"/>
                  </a:lnTo>
                  <a:lnTo>
                    <a:pt x="5684" y="264552"/>
                  </a:lnTo>
                  <a:lnTo>
                    <a:pt x="0" y="215211"/>
                  </a:lnTo>
                  <a:lnTo>
                    <a:pt x="5706" y="165878"/>
                  </a:lnTo>
                  <a:lnTo>
                    <a:pt x="21902" y="120589"/>
                  </a:lnTo>
                  <a:lnTo>
                    <a:pt x="47307" y="80636"/>
                  </a:lnTo>
                  <a:lnTo>
                    <a:pt x="80630" y="47309"/>
                  </a:lnTo>
                  <a:lnTo>
                    <a:pt x="120582" y="21899"/>
                  </a:lnTo>
                  <a:lnTo>
                    <a:pt x="165872" y="5698"/>
                  </a:lnTo>
                  <a:lnTo>
                    <a:pt x="215212" y="0"/>
                  </a:lnTo>
                  <a:lnTo>
                    <a:pt x="264559" y="5669"/>
                  </a:lnTo>
                  <a:lnTo>
                    <a:pt x="309868" y="21848"/>
                  </a:lnTo>
                  <a:lnTo>
                    <a:pt x="349847" y="47248"/>
                  </a:lnTo>
                  <a:lnTo>
                    <a:pt x="383199" y="80577"/>
                  </a:lnTo>
                  <a:lnTo>
                    <a:pt x="408630" y="120545"/>
                  </a:lnTo>
                  <a:lnTo>
                    <a:pt x="424843" y="165859"/>
                  </a:lnTo>
                  <a:lnTo>
                    <a:pt x="428557" y="198745"/>
                  </a:lnTo>
                </a:path>
              </a:pathLst>
            </a:custGeom>
            <a:ln w="38100">
              <a:solidFill>
                <a:srgbClr val="007C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60251" y="3121786"/>
            <a:ext cx="10541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97811" y="2980055"/>
            <a:ext cx="3316604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Custom Knapsack builder: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users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add their own items and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weights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78426" y="4182229"/>
            <a:ext cx="466725" cy="466725"/>
            <a:chOff x="1178426" y="4182229"/>
            <a:chExt cx="466725" cy="466725"/>
          </a:xfrm>
        </p:grpSpPr>
        <p:sp>
          <p:nvSpPr>
            <p:cNvPr id="14" name="object 14"/>
            <p:cNvSpPr/>
            <p:nvPr/>
          </p:nvSpPr>
          <p:spPr>
            <a:xfrm>
              <a:off x="1197482" y="4201287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30" h="430529">
                  <a:moveTo>
                    <a:pt x="215264" y="430529"/>
                  </a:moveTo>
                  <a:lnTo>
                    <a:pt x="165911" y="424843"/>
                  </a:lnTo>
                  <a:lnTo>
                    <a:pt x="120603" y="408647"/>
                  </a:lnTo>
                  <a:lnTo>
                    <a:pt x="80634" y="383233"/>
                  </a:lnTo>
                  <a:lnTo>
                    <a:pt x="47296" y="349895"/>
                  </a:lnTo>
                  <a:lnTo>
                    <a:pt x="21882" y="309926"/>
                  </a:lnTo>
                  <a:lnTo>
                    <a:pt x="5686" y="264618"/>
                  </a:lnTo>
                  <a:lnTo>
                    <a:pt x="0" y="215264"/>
                  </a:lnTo>
                  <a:lnTo>
                    <a:pt x="5686" y="165911"/>
                  </a:lnTo>
                  <a:lnTo>
                    <a:pt x="21882" y="120603"/>
                  </a:lnTo>
                  <a:lnTo>
                    <a:pt x="47296" y="80634"/>
                  </a:lnTo>
                  <a:lnTo>
                    <a:pt x="80634" y="47296"/>
                  </a:lnTo>
                  <a:lnTo>
                    <a:pt x="120603" y="21882"/>
                  </a:lnTo>
                  <a:lnTo>
                    <a:pt x="165911" y="5686"/>
                  </a:lnTo>
                  <a:lnTo>
                    <a:pt x="215264" y="0"/>
                  </a:lnTo>
                  <a:lnTo>
                    <a:pt x="264618" y="5686"/>
                  </a:lnTo>
                  <a:lnTo>
                    <a:pt x="309926" y="21882"/>
                  </a:lnTo>
                  <a:lnTo>
                    <a:pt x="349895" y="47296"/>
                  </a:lnTo>
                  <a:lnTo>
                    <a:pt x="383233" y="80634"/>
                  </a:lnTo>
                  <a:lnTo>
                    <a:pt x="408647" y="120603"/>
                  </a:lnTo>
                  <a:lnTo>
                    <a:pt x="424843" y="165911"/>
                  </a:lnTo>
                  <a:lnTo>
                    <a:pt x="430529" y="215264"/>
                  </a:lnTo>
                  <a:lnTo>
                    <a:pt x="424843" y="264618"/>
                  </a:lnTo>
                  <a:lnTo>
                    <a:pt x="408647" y="309926"/>
                  </a:lnTo>
                  <a:lnTo>
                    <a:pt x="383233" y="349895"/>
                  </a:lnTo>
                  <a:lnTo>
                    <a:pt x="349895" y="383233"/>
                  </a:lnTo>
                  <a:lnTo>
                    <a:pt x="309926" y="408647"/>
                  </a:lnTo>
                  <a:lnTo>
                    <a:pt x="264618" y="424843"/>
                  </a:lnTo>
                  <a:lnTo>
                    <a:pt x="215264" y="430529"/>
                  </a:lnTo>
                  <a:close/>
                </a:path>
              </a:pathLst>
            </a:custGeom>
            <a:solidFill>
              <a:srgbClr val="007C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4594" y="4428398"/>
              <a:ext cx="206062" cy="20606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97476" y="4201279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198744" y="428557"/>
                  </a:moveTo>
                  <a:lnTo>
                    <a:pt x="120534" y="408606"/>
                  </a:lnTo>
                  <a:lnTo>
                    <a:pt x="80576" y="383176"/>
                  </a:lnTo>
                  <a:lnTo>
                    <a:pt x="47254" y="349827"/>
                  </a:lnTo>
                  <a:lnTo>
                    <a:pt x="21860" y="309855"/>
                  </a:lnTo>
                  <a:lnTo>
                    <a:pt x="5684" y="264552"/>
                  </a:lnTo>
                  <a:lnTo>
                    <a:pt x="0" y="215211"/>
                  </a:lnTo>
                  <a:lnTo>
                    <a:pt x="5706" y="165878"/>
                  </a:lnTo>
                  <a:lnTo>
                    <a:pt x="21902" y="120589"/>
                  </a:lnTo>
                  <a:lnTo>
                    <a:pt x="47307" y="80636"/>
                  </a:lnTo>
                  <a:lnTo>
                    <a:pt x="80630" y="47309"/>
                  </a:lnTo>
                  <a:lnTo>
                    <a:pt x="120582" y="21899"/>
                  </a:lnTo>
                  <a:lnTo>
                    <a:pt x="165872" y="5698"/>
                  </a:lnTo>
                  <a:lnTo>
                    <a:pt x="215212" y="0"/>
                  </a:lnTo>
                  <a:lnTo>
                    <a:pt x="264559" y="5669"/>
                  </a:lnTo>
                  <a:lnTo>
                    <a:pt x="309868" y="21848"/>
                  </a:lnTo>
                  <a:lnTo>
                    <a:pt x="349847" y="47248"/>
                  </a:lnTo>
                  <a:lnTo>
                    <a:pt x="383199" y="80577"/>
                  </a:lnTo>
                  <a:lnTo>
                    <a:pt x="408630" y="120545"/>
                  </a:lnTo>
                  <a:lnTo>
                    <a:pt x="424843" y="165859"/>
                  </a:lnTo>
                  <a:lnTo>
                    <a:pt x="428557" y="198745"/>
                  </a:lnTo>
                </a:path>
              </a:pathLst>
            </a:custGeom>
            <a:ln w="38100">
              <a:solidFill>
                <a:srgbClr val="007C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360251" y="4246498"/>
            <a:ext cx="10541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97811" y="3971416"/>
            <a:ext cx="3482340" cy="83311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More puzzles: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Travelling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Salesperson and Graph Coloring </a:t>
            </a:r>
            <a:r>
              <a:rPr sz="1800" spc="-50" dirty="0">
                <a:solidFill>
                  <a:srgbClr val="1F2937"/>
                </a:solidFill>
                <a:latin typeface="Arial"/>
                <a:cs typeface="Arial"/>
              </a:rPr>
              <a:t>/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Max-</a:t>
            </a:r>
            <a:r>
              <a:rPr sz="1800" spc="-25" dirty="0">
                <a:solidFill>
                  <a:srgbClr val="1F2937"/>
                </a:solidFill>
                <a:latin typeface="Arial"/>
                <a:cs typeface="Arial"/>
              </a:rPr>
              <a:t>Cut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78426" y="5306941"/>
            <a:ext cx="466725" cy="466725"/>
            <a:chOff x="1178426" y="5306941"/>
            <a:chExt cx="466725" cy="466725"/>
          </a:xfrm>
        </p:grpSpPr>
        <p:sp>
          <p:nvSpPr>
            <p:cNvPr id="20" name="object 20"/>
            <p:cNvSpPr/>
            <p:nvPr/>
          </p:nvSpPr>
          <p:spPr>
            <a:xfrm>
              <a:off x="1197482" y="5325998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30" h="430529">
                  <a:moveTo>
                    <a:pt x="215264" y="430529"/>
                  </a:moveTo>
                  <a:lnTo>
                    <a:pt x="165911" y="424843"/>
                  </a:lnTo>
                  <a:lnTo>
                    <a:pt x="120603" y="408647"/>
                  </a:lnTo>
                  <a:lnTo>
                    <a:pt x="80634" y="383233"/>
                  </a:lnTo>
                  <a:lnTo>
                    <a:pt x="47296" y="349895"/>
                  </a:lnTo>
                  <a:lnTo>
                    <a:pt x="21882" y="309926"/>
                  </a:lnTo>
                  <a:lnTo>
                    <a:pt x="5686" y="264618"/>
                  </a:lnTo>
                  <a:lnTo>
                    <a:pt x="0" y="215264"/>
                  </a:lnTo>
                  <a:lnTo>
                    <a:pt x="5686" y="165911"/>
                  </a:lnTo>
                  <a:lnTo>
                    <a:pt x="21882" y="120603"/>
                  </a:lnTo>
                  <a:lnTo>
                    <a:pt x="47296" y="80634"/>
                  </a:lnTo>
                  <a:lnTo>
                    <a:pt x="80634" y="47296"/>
                  </a:lnTo>
                  <a:lnTo>
                    <a:pt x="120603" y="21882"/>
                  </a:lnTo>
                  <a:lnTo>
                    <a:pt x="165911" y="5686"/>
                  </a:lnTo>
                  <a:lnTo>
                    <a:pt x="215264" y="0"/>
                  </a:lnTo>
                  <a:lnTo>
                    <a:pt x="264618" y="5686"/>
                  </a:lnTo>
                  <a:lnTo>
                    <a:pt x="309926" y="21882"/>
                  </a:lnTo>
                  <a:lnTo>
                    <a:pt x="349895" y="47296"/>
                  </a:lnTo>
                  <a:lnTo>
                    <a:pt x="383233" y="80634"/>
                  </a:lnTo>
                  <a:lnTo>
                    <a:pt x="408647" y="120603"/>
                  </a:lnTo>
                  <a:lnTo>
                    <a:pt x="424843" y="165911"/>
                  </a:lnTo>
                  <a:lnTo>
                    <a:pt x="430529" y="215264"/>
                  </a:lnTo>
                  <a:lnTo>
                    <a:pt x="424843" y="264618"/>
                  </a:lnTo>
                  <a:lnTo>
                    <a:pt x="408647" y="309926"/>
                  </a:lnTo>
                  <a:lnTo>
                    <a:pt x="383233" y="349895"/>
                  </a:lnTo>
                  <a:lnTo>
                    <a:pt x="349895" y="383233"/>
                  </a:lnTo>
                  <a:lnTo>
                    <a:pt x="309926" y="408647"/>
                  </a:lnTo>
                  <a:lnTo>
                    <a:pt x="264618" y="424843"/>
                  </a:lnTo>
                  <a:lnTo>
                    <a:pt x="215264" y="430529"/>
                  </a:lnTo>
                  <a:close/>
                </a:path>
              </a:pathLst>
            </a:custGeom>
            <a:solidFill>
              <a:srgbClr val="007C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4594" y="5553110"/>
              <a:ext cx="206062" cy="20606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197476" y="5325991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198744" y="428557"/>
                  </a:moveTo>
                  <a:lnTo>
                    <a:pt x="120534" y="408606"/>
                  </a:lnTo>
                  <a:lnTo>
                    <a:pt x="80576" y="383176"/>
                  </a:lnTo>
                  <a:lnTo>
                    <a:pt x="47254" y="349827"/>
                  </a:lnTo>
                  <a:lnTo>
                    <a:pt x="21860" y="309855"/>
                  </a:lnTo>
                  <a:lnTo>
                    <a:pt x="5684" y="264552"/>
                  </a:lnTo>
                  <a:lnTo>
                    <a:pt x="0" y="215211"/>
                  </a:lnTo>
                  <a:lnTo>
                    <a:pt x="5706" y="165878"/>
                  </a:lnTo>
                  <a:lnTo>
                    <a:pt x="21902" y="120589"/>
                  </a:lnTo>
                  <a:lnTo>
                    <a:pt x="47307" y="80636"/>
                  </a:lnTo>
                  <a:lnTo>
                    <a:pt x="80630" y="47309"/>
                  </a:lnTo>
                  <a:lnTo>
                    <a:pt x="120582" y="21899"/>
                  </a:lnTo>
                  <a:lnTo>
                    <a:pt x="165872" y="5698"/>
                  </a:lnTo>
                  <a:lnTo>
                    <a:pt x="215212" y="0"/>
                  </a:lnTo>
                  <a:lnTo>
                    <a:pt x="264559" y="5669"/>
                  </a:lnTo>
                  <a:lnTo>
                    <a:pt x="309868" y="21848"/>
                  </a:lnTo>
                  <a:lnTo>
                    <a:pt x="349847" y="47248"/>
                  </a:lnTo>
                  <a:lnTo>
                    <a:pt x="383199" y="80577"/>
                  </a:lnTo>
                  <a:lnTo>
                    <a:pt x="408630" y="120545"/>
                  </a:lnTo>
                  <a:lnTo>
                    <a:pt x="424843" y="165859"/>
                  </a:lnTo>
                  <a:lnTo>
                    <a:pt x="428557" y="198745"/>
                  </a:lnTo>
                </a:path>
              </a:pathLst>
            </a:custGeom>
            <a:ln w="38100">
              <a:solidFill>
                <a:srgbClr val="007C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360251" y="5371210"/>
            <a:ext cx="10541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97811" y="5096128"/>
            <a:ext cx="3278504" cy="83311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Stream live IBM QPU job-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queue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status into the UI </a:t>
            </a:r>
            <a:r>
              <a:rPr sz="1800" spc="-20" dirty="0">
                <a:solidFill>
                  <a:srgbClr val="1F2937"/>
                </a:solidFill>
                <a:latin typeface="Arial"/>
                <a:cs typeface="Arial"/>
              </a:rPr>
              <a:t>over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WebSockets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439661" y="1817369"/>
            <a:ext cx="5061585" cy="5061585"/>
            <a:chOff x="6439661" y="1817369"/>
            <a:chExt cx="5061585" cy="5061585"/>
          </a:xfrm>
        </p:grpSpPr>
        <p:sp>
          <p:nvSpPr>
            <p:cNvPr id="26" name="object 26"/>
            <p:cNvSpPr/>
            <p:nvPr/>
          </p:nvSpPr>
          <p:spPr>
            <a:xfrm>
              <a:off x="6462522" y="1840229"/>
              <a:ext cx="5015865" cy="5015865"/>
            </a:xfrm>
            <a:custGeom>
              <a:avLst/>
              <a:gdLst/>
              <a:ahLst/>
              <a:cxnLst/>
              <a:rect l="l" t="t" r="r" b="b"/>
              <a:pathLst>
                <a:path w="5015865" h="5015865">
                  <a:moveTo>
                    <a:pt x="4946618" y="5015483"/>
                  </a:moveTo>
                  <a:lnTo>
                    <a:pt x="68865" y="5015483"/>
                  </a:lnTo>
                  <a:lnTo>
                    <a:pt x="42098" y="5010081"/>
                  </a:lnTo>
                  <a:lnTo>
                    <a:pt x="20198" y="4995338"/>
                  </a:lnTo>
                  <a:lnTo>
                    <a:pt x="5429" y="4973451"/>
                  </a:lnTo>
                  <a:lnTo>
                    <a:pt x="0" y="4946618"/>
                  </a:lnTo>
                  <a:lnTo>
                    <a:pt x="0" y="68865"/>
                  </a:lnTo>
                  <a:lnTo>
                    <a:pt x="5415" y="42072"/>
                  </a:lnTo>
                  <a:lnTo>
                    <a:pt x="20181" y="20181"/>
                  </a:lnTo>
                  <a:lnTo>
                    <a:pt x="42072" y="5415"/>
                  </a:lnTo>
                  <a:lnTo>
                    <a:pt x="68865" y="0"/>
                  </a:lnTo>
                  <a:lnTo>
                    <a:pt x="4946618" y="0"/>
                  </a:lnTo>
                  <a:lnTo>
                    <a:pt x="4973451" y="5415"/>
                  </a:lnTo>
                  <a:lnTo>
                    <a:pt x="4995338" y="20181"/>
                  </a:lnTo>
                  <a:lnTo>
                    <a:pt x="5010081" y="42072"/>
                  </a:lnTo>
                  <a:lnTo>
                    <a:pt x="5015483" y="68865"/>
                  </a:lnTo>
                  <a:lnTo>
                    <a:pt x="5015483" y="4946618"/>
                  </a:lnTo>
                  <a:lnTo>
                    <a:pt x="5010068" y="4973451"/>
                  </a:lnTo>
                  <a:lnTo>
                    <a:pt x="4995302" y="4995338"/>
                  </a:lnTo>
                  <a:lnTo>
                    <a:pt x="4973411" y="5010081"/>
                  </a:lnTo>
                  <a:lnTo>
                    <a:pt x="4946618" y="5015483"/>
                  </a:lnTo>
                  <a:close/>
                </a:path>
              </a:pathLst>
            </a:custGeom>
            <a:solidFill>
              <a:srgbClr val="EFF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62521" y="1840229"/>
              <a:ext cx="5015865" cy="5015865"/>
            </a:xfrm>
            <a:custGeom>
              <a:avLst/>
              <a:gdLst/>
              <a:ahLst/>
              <a:cxnLst/>
              <a:rect l="l" t="t" r="r" b="b"/>
              <a:pathLst>
                <a:path w="5015865" h="5015865">
                  <a:moveTo>
                    <a:pt x="0" y="68864"/>
                  </a:moveTo>
                  <a:lnTo>
                    <a:pt x="20180" y="20181"/>
                  </a:lnTo>
                  <a:lnTo>
                    <a:pt x="68863" y="0"/>
                  </a:lnTo>
                  <a:lnTo>
                    <a:pt x="4946494" y="0"/>
                  </a:lnTo>
                  <a:lnTo>
                    <a:pt x="4973366" y="5358"/>
                  </a:lnTo>
                  <a:lnTo>
                    <a:pt x="4995299" y="20122"/>
                  </a:lnTo>
                  <a:lnTo>
                    <a:pt x="5010049" y="42007"/>
                  </a:lnTo>
                  <a:lnTo>
                    <a:pt x="5015483" y="68863"/>
                  </a:lnTo>
                  <a:lnTo>
                    <a:pt x="5015358" y="4946618"/>
                  </a:lnTo>
                  <a:lnTo>
                    <a:pt x="4995177" y="4995213"/>
                  </a:lnTo>
                  <a:lnTo>
                    <a:pt x="4946612" y="5015459"/>
                  </a:lnTo>
                  <a:lnTo>
                    <a:pt x="68839" y="5015478"/>
                  </a:lnTo>
                  <a:lnTo>
                    <a:pt x="41987" y="5010006"/>
                  </a:lnTo>
                  <a:lnTo>
                    <a:pt x="20107" y="4995203"/>
                  </a:lnTo>
                  <a:lnTo>
                    <a:pt x="5344" y="4973325"/>
                  </a:lnTo>
                  <a:lnTo>
                    <a:pt x="0" y="4946494"/>
                  </a:lnTo>
                  <a:lnTo>
                    <a:pt x="0" y="68864"/>
                  </a:lnTo>
                </a:path>
              </a:pathLst>
            </a:custGeom>
            <a:ln w="45719">
              <a:solidFill>
                <a:srgbClr val="62A7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201826" y="2292730"/>
            <a:ext cx="1536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62A745"/>
                </a:solidFill>
                <a:latin typeface="Arial"/>
                <a:cs typeface="Arial"/>
              </a:rPr>
              <a:t>SCALABILITY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829418" y="3057518"/>
            <a:ext cx="466725" cy="466725"/>
            <a:chOff x="6829418" y="3057518"/>
            <a:chExt cx="466725" cy="466725"/>
          </a:xfrm>
        </p:grpSpPr>
        <p:sp>
          <p:nvSpPr>
            <p:cNvPr id="30" name="object 30"/>
            <p:cNvSpPr/>
            <p:nvPr/>
          </p:nvSpPr>
          <p:spPr>
            <a:xfrm>
              <a:off x="6848474" y="3076574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29" h="430529">
                  <a:moveTo>
                    <a:pt x="215264" y="430529"/>
                  </a:moveTo>
                  <a:lnTo>
                    <a:pt x="165911" y="424843"/>
                  </a:lnTo>
                  <a:lnTo>
                    <a:pt x="120603" y="408647"/>
                  </a:lnTo>
                  <a:lnTo>
                    <a:pt x="80634" y="383233"/>
                  </a:lnTo>
                  <a:lnTo>
                    <a:pt x="47296" y="349895"/>
                  </a:lnTo>
                  <a:lnTo>
                    <a:pt x="21882" y="309926"/>
                  </a:lnTo>
                  <a:lnTo>
                    <a:pt x="5686" y="264618"/>
                  </a:lnTo>
                  <a:lnTo>
                    <a:pt x="0" y="215264"/>
                  </a:lnTo>
                  <a:lnTo>
                    <a:pt x="5686" y="165911"/>
                  </a:lnTo>
                  <a:lnTo>
                    <a:pt x="21882" y="120603"/>
                  </a:lnTo>
                  <a:lnTo>
                    <a:pt x="47296" y="80634"/>
                  </a:lnTo>
                  <a:lnTo>
                    <a:pt x="80634" y="47296"/>
                  </a:lnTo>
                  <a:lnTo>
                    <a:pt x="120603" y="21882"/>
                  </a:lnTo>
                  <a:lnTo>
                    <a:pt x="165911" y="5686"/>
                  </a:lnTo>
                  <a:lnTo>
                    <a:pt x="215264" y="0"/>
                  </a:lnTo>
                  <a:lnTo>
                    <a:pt x="264618" y="5686"/>
                  </a:lnTo>
                  <a:lnTo>
                    <a:pt x="309926" y="21882"/>
                  </a:lnTo>
                  <a:lnTo>
                    <a:pt x="349895" y="47296"/>
                  </a:lnTo>
                  <a:lnTo>
                    <a:pt x="383233" y="80634"/>
                  </a:lnTo>
                  <a:lnTo>
                    <a:pt x="408647" y="120603"/>
                  </a:lnTo>
                  <a:lnTo>
                    <a:pt x="424843" y="165911"/>
                  </a:lnTo>
                  <a:lnTo>
                    <a:pt x="430529" y="215264"/>
                  </a:lnTo>
                  <a:lnTo>
                    <a:pt x="424843" y="264618"/>
                  </a:lnTo>
                  <a:lnTo>
                    <a:pt x="408647" y="309926"/>
                  </a:lnTo>
                  <a:lnTo>
                    <a:pt x="383233" y="349895"/>
                  </a:lnTo>
                  <a:lnTo>
                    <a:pt x="349895" y="383233"/>
                  </a:lnTo>
                  <a:lnTo>
                    <a:pt x="309926" y="408647"/>
                  </a:lnTo>
                  <a:lnTo>
                    <a:pt x="264618" y="424843"/>
                  </a:lnTo>
                  <a:lnTo>
                    <a:pt x="215264" y="430529"/>
                  </a:lnTo>
                  <a:close/>
                </a:path>
              </a:pathLst>
            </a:custGeom>
            <a:solidFill>
              <a:srgbClr val="62A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75586" y="3303686"/>
              <a:ext cx="206062" cy="20606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848468" y="3076568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198744" y="428557"/>
                  </a:moveTo>
                  <a:lnTo>
                    <a:pt x="120534" y="408606"/>
                  </a:lnTo>
                  <a:lnTo>
                    <a:pt x="80576" y="383176"/>
                  </a:lnTo>
                  <a:lnTo>
                    <a:pt x="47254" y="349827"/>
                  </a:lnTo>
                  <a:lnTo>
                    <a:pt x="21860" y="309855"/>
                  </a:lnTo>
                  <a:lnTo>
                    <a:pt x="5684" y="264552"/>
                  </a:lnTo>
                  <a:lnTo>
                    <a:pt x="0" y="215211"/>
                  </a:lnTo>
                  <a:lnTo>
                    <a:pt x="5706" y="165878"/>
                  </a:lnTo>
                  <a:lnTo>
                    <a:pt x="21902" y="120589"/>
                  </a:lnTo>
                  <a:lnTo>
                    <a:pt x="47307" y="80636"/>
                  </a:lnTo>
                  <a:lnTo>
                    <a:pt x="80630" y="47309"/>
                  </a:lnTo>
                  <a:lnTo>
                    <a:pt x="120582" y="21899"/>
                  </a:lnTo>
                  <a:lnTo>
                    <a:pt x="165872" y="5698"/>
                  </a:lnTo>
                  <a:lnTo>
                    <a:pt x="215212" y="0"/>
                  </a:lnTo>
                  <a:lnTo>
                    <a:pt x="264559" y="5669"/>
                  </a:lnTo>
                  <a:lnTo>
                    <a:pt x="309868" y="21848"/>
                  </a:lnTo>
                  <a:lnTo>
                    <a:pt x="349846" y="47247"/>
                  </a:lnTo>
                  <a:lnTo>
                    <a:pt x="383199" y="80577"/>
                  </a:lnTo>
                  <a:lnTo>
                    <a:pt x="408630" y="120545"/>
                  </a:lnTo>
                  <a:lnTo>
                    <a:pt x="424843" y="165859"/>
                  </a:lnTo>
                  <a:lnTo>
                    <a:pt x="428557" y="198745"/>
                  </a:lnTo>
                </a:path>
              </a:pathLst>
            </a:custGeom>
            <a:ln w="38100">
              <a:solidFill>
                <a:srgbClr val="62A7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011243" y="3121786"/>
            <a:ext cx="10541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48803" y="2846705"/>
            <a:ext cx="3125470" cy="83311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Compile the C++ solvers </a:t>
            </a:r>
            <a:r>
              <a:rPr sz="1800" spc="-25" dirty="0">
                <a:solidFill>
                  <a:srgbClr val="1F2937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WebAssembly for fast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browser execution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829418" y="4182229"/>
            <a:ext cx="466725" cy="466725"/>
            <a:chOff x="6829418" y="4182229"/>
            <a:chExt cx="466725" cy="466725"/>
          </a:xfrm>
        </p:grpSpPr>
        <p:sp>
          <p:nvSpPr>
            <p:cNvPr id="36" name="object 36"/>
            <p:cNvSpPr/>
            <p:nvPr/>
          </p:nvSpPr>
          <p:spPr>
            <a:xfrm>
              <a:off x="6848474" y="4201287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29" h="430529">
                  <a:moveTo>
                    <a:pt x="215264" y="430529"/>
                  </a:moveTo>
                  <a:lnTo>
                    <a:pt x="165911" y="424843"/>
                  </a:lnTo>
                  <a:lnTo>
                    <a:pt x="120603" y="408647"/>
                  </a:lnTo>
                  <a:lnTo>
                    <a:pt x="80634" y="383233"/>
                  </a:lnTo>
                  <a:lnTo>
                    <a:pt x="47296" y="349895"/>
                  </a:lnTo>
                  <a:lnTo>
                    <a:pt x="21882" y="309926"/>
                  </a:lnTo>
                  <a:lnTo>
                    <a:pt x="5686" y="264618"/>
                  </a:lnTo>
                  <a:lnTo>
                    <a:pt x="0" y="215264"/>
                  </a:lnTo>
                  <a:lnTo>
                    <a:pt x="5686" y="165911"/>
                  </a:lnTo>
                  <a:lnTo>
                    <a:pt x="21882" y="120603"/>
                  </a:lnTo>
                  <a:lnTo>
                    <a:pt x="47296" y="80634"/>
                  </a:lnTo>
                  <a:lnTo>
                    <a:pt x="80634" y="47296"/>
                  </a:lnTo>
                  <a:lnTo>
                    <a:pt x="120603" y="21882"/>
                  </a:lnTo>
                  <a:lnTo>
                    <a:pt x="165911" y="5686"/>
                  </a:lnTo>
                  <a:lnTo>
                    <a:pt x="215264" y="0"/>
                  </a:lnTo>
                  <a:lnTo>
                    <a:pt x="264618" y="5686"/>
                  </a:lnTo>
                  <a:lnTo>
                    <a:pt x="309926" y="21882"/>
                  </a:lnTo>
                  <a:lnTo>
                    <a:pt x="349895" y="47296"/>
                  </a:lnTo>
                  <a:lnTo>
                    <a:pt x="383233" y="80634"/>
                  </a:lnTo>
                  <a:lnTo>
                    <a:pt x="408647" y="120603"/>
                  </a:lnTo>
                  <a:lnTo>
                    <a:pt x="424843" y="165911"/>
                  </a:lnTo>
                  <a:lnTo>
                    <a:pt x="430529" y="215264"/>
                  </a:lnTo>
                  <a:lnTo>
                    <a:pt x="424843" y="264618"/>
                  </a:lnTo>
                  <a:lnTo>
                    <a:pt x="408647" y="309926"/>
                  </a:lnTo>
                  <a:lnTo>
                    <a:pt x="383233" y="349895"/>
                  </a:lnTo>
                  <a:lnTo>
                    <a:pt x="349895" y="383233"/>
                  </a:lnTo>
                  <a:lnTo>
                    <a:pt x="309926" y="408647"/>
                  </a:lnTo>
                  <a:lnTo>
                    <a:pt x="264618" y="424843"/>
                  </a:lnTo>
                  <a:lnTo>
                    <a:pt x="215264" y="430529"/>
                  </a:lnTo>
                  <a:close/>
                </a:path>
              </a:pathLst>
            </a:custGeom>
            <a:solidFill>
              <a:srgbClr val="62A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75586" y="4428398"/>
              <a:ext cx="206062" cy="20606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848468" y="4201279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198744" y="428557"/>
                  </a:moveTo>
                  <a:lnTo>
                    <a:pt x="120534" y="408606"/>
                  </a:lnTo>
                  <a:lnTo>
                    <a:pt x="80576" y="383176"/>
                  </a:lnTo>
                  <a:lnTo>
                    <a:pt x="47254" y="349827"/>
                  </a:lnTo>
                  <a:lnTo>
                    <a:pt x="21860" y="309855"/>
                  </a:lnTo>
                  <a:lnTo>
                    <a:pt x="5684" y="264552"/>
                  </a:lnTo>
                  <a:lnTo>
                    <a:pt x="0" y="215211"/>
                  </a:lnTo>
                  <a:lnTo>
                    <a:pt x="5706" y="165878"/>
                  </a:lnTo>
                  <a:lnTo>
                    <a:pt x="21902" y="120589"/>
                  </a:lnTo>
                  <a:lnTo>
                    <a:pt x="47307" y="80636"/>
                  </a:lnTo>
                  <a:lnTo>
                    <a:pt x="80630" y="47309"/>
                  </a:lnTo>
                  <a:lnTo>
                    <a:pt x="120582" y="21899"/>
                  </a:lnTo>
                  <a:lnTo>
                    <a:pt x="165872" y="5698"/>
                  </a:lnTo>
                  <a:lnTo>
                    <a:pt x="215212" y="0"/>
                  </a:lnTo>
                  <a:lnTo>
                    <a:pt x="264559" y="5669"/>
                  </a:lnTo>
                  <a:lnTo>
                    <a:pt x="309868" y="21848"/>
                  </a:lnTo>
                  <a:lnTo>
                    <a:pt x="349846" y="47247"/>
                  </a:lnTo>
                  <a:lnTo>
                    <a:pt x="383199" y="80577"/>
                  </a:lnTo>
                  <a:lnTo>
                    <a:pt x="408630" y="120544"/>
                  </a:lnTo>
                  <a:lnTo>
                    <a:pt x="424843" y="165859"/>
                  </a:lnTo>
                  <a:lnTo>
                    <a:pt x="428557" y="198745"/>
                  </a:lnTo>
                </a:path>
              </a:pathLst>
            </a:custGeom>
            <a:ln w="38100">
              <a:solidFill>
                <a:srgbClr val="62A7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011243" y="4246498"/>
            <a:ext cx="10541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448803" y="4104766"/>
            <a:ext cx="3456304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Web Worker already keeps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heavy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compute off the UI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thread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829418" y="5306941"/>
            <a:ext cx="466725" cy="466725"/>
            <a:chOff x="6829418" y="5306941"/>
            <a:chExt cx="466725" cy="466725"/>
          </a:xfrm>
        </p:grpSpPr>
        <p:sp>
          <p:nvSpPr>
            <p:cNvPr id="42" name="object 42"/>
            <p:cNvSpPr/>
            <p:nvPr/>
          </p:nvSpPr>
          <p:spPr>
            <a:xfrm>
              <a:off x="6848474" y="5325998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29" h="430529">
                  <a:moveTo>
                    <a:pt x="215264" y="430529"/>
                  </a:moveTo>
                  <a:lnTo>
                    <a:pt x="165911" y="424843"/>
                  </a:lnTo>
                  <a:lnTo>
                    <a:pt x="120603" y="408647"/>
                  </a:lnTo>
                  <a:lnTo>
                    <a:pt x="80634" y="383233"/>
                  </a:lnTo>
                  <a:lnTo>
                    <a:pt x="47296" y="349895"/>
                  </a:lnTo>
                  <a:lnTo>
                    <a:pt x="21882" y="309926"/>
                  </a:lnTo>
                  <a:lnTo>
                    <a:pt x="5686" y="264618"/>
                  </a:lnTo>
                  <a:lnTo>
                    <a:pt x="0" y="215264"/>
                  </a:lnTo>
                  <a:lnTo>
                    <a:pt x="5686" y="165911"/>
                  </a:lnTo>
                  <a:lnTo>
                    <a:pt x="21882" y="120603"/>
                  </a:lnTo>
                  <a:lnTo>
                    <a:pt x="47296" y="80634"/>
                  </a:lnTo>
                  <a:lnTo>
                    <a:pt x="80634" y="47296"/>
                  </a:lnTo>
                  <a:lnTo>
                    <a:pt x="120603" y="21882"/>
                  </a:lnTo>
                  <a:lnTo>
                    <a:pt x="165911" y="5686"/>
                  </a:lnTo>
                  <a:lnTo>
                    <a:pt x="215264" y="0"/>
                  </a:lnTo>
                  <a:lnTo>
                    <a:pt x="264618" y="5686"/>
                  </a:lnTo>
                  <a:lnTo>
                    <a:pt x="309926" y="21882"/>
                  </a:lnTo>
                  <a:lnTo>
                    <a:pt x="349895" y="47296"/>
                  </a:lnTo>
                  <a:lnTo>
                    <a:pt x="383233" y="80634"/>
                  </a:lnTo>
                  <a:lnTo>
                    <a:pt x="408647" y="120603"/>
                  </a:lnTo>
                  <a:lnTo>
                    <a:pt x="424843" y="165911"/>
                  </a:lnTo>
                  <a:lnTo>
                    <a:pt x="430529" y="215264"/>
                  </a:lnTo>
                  <a:lnTo>
                    <a:pt x="424843" y="264618"/>
                  </a:lnTo>
                  <a:lnTo>
                    <a:pt x="408647" y="309926"/>
                  </a:lnTo>
                  <a:lnTo>
                    <a:pt x="383233" y="349895"/>
                  </a:lnTo>
                  <a:lnTo>
                    <a:pt x="349895" y="383233"/>
                  </a:lnTo>
                  <a:lnTo>
                    <a:pt x="309926" y="408647"/>
                  </a:lnTo>
                  <a:lnTo>
                    <a:pt x="264618" y="424843"/>
                  </a:lnTo>
                  <a:lnTo>
                    <a:pt x="215264" y="430529"/>
                  </a:lnTo>
                  <a:close/>
                </a:path>
              </a:pathLst>
            </a:custGeom>
            <a:solidFill>
              <a:srgbClr val="62A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75586" y="5553110"/>
              <a:ext cx="206062" cy="20606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848468" y="5325991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198744" y="428557"/>
                  </a:moveTo>
                  <a:lnTo>
                    <a:pt x="120534" y="408606"/>
                  </a:lnTo>
                  <a:lnTo>
                    <a:pt x="80576" y="383176"/>
                  </a:lnTo>
                  <a:lnTo>
                    <a:pt x="47254" y="349827"/>
                  </a:lnTo>
                  <a:lnTo>
                    <a:pt x="21860" y="309855"/>
                  </a:lnTo>
                  <a:lnTo>
                    <a:pt x="5684" y="264552"/>
                  </a:lnTo>
                  <a:lnTo>
                    <a:pt x="0" y="215211"/>
                  </a:lnTo>
                  <a:lnTo>
                    <a:pt x="5706" y="165878"/>
                  </a:lnTo>
                  <a:lnTo>
                    <a:pt x="21902" y="120589"/>
                  </a:lnTo>
                  <a:lnTo>
                    <a:pt x="47307" y="80636"/>
                  </a:lnTo>
                  <a:lnTo>
                    <a:pt x="80630" y="47309"/>
                  </a:lnTo>
                  <a:lnTo>
                    <a:pt x="120582" y="21899"/>
                  </a:lnTo>
                  <a:lnTo>
                    <a:pt x="165872" y="5698"/>
                  </a:lnTo>
                  <a:lnTo>
                    <a:pt x="215212" y="0"/>
                  </a:lnTo>
                  <a:lnTo>
                    <a:pt x="264559" y="5669"/>
                  </a:lnTo>
                  <a:lnTo>
                    <a:pt x="309868" y="21848"/>
                  </a:lnTo>
                  <a:lnTo>
                    <a:pt x="349846" y="47247"/>
                  </a:lnTo>
                  <a:lnTo>
                    <a:pt x="383199" y="80577"/>
                  </a:lnTo>
                  <a:lnTo>
                    <a:pt x="408630" y="120544"/>
                  </a:lnTo>
                  <a:lnTo>
                    <a:pt x="424843" y="165859"/>
                  </a:lnTo>
                  <a:lnTo>
                    <a:pt x="428557" y="198745"/>
                  </a:lnTo>
                </a:path>
              </a:pathLst>
            </a:custGeom>
            <a:ln w="38100">
              <a:solidFill>
                <a:srgbClr val="62A7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011243" y="5371210"/>
            <a:ext cx="10541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1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48803" y="5229478"/>
            <a:ext cx="340614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Typed code and Vitest tests </a:t>
            </a:r>
            <a:r>
              <a:rPr sz="1800" spc="-20" dirty="0">
                <a:solidFill>
                  <a:srgbClr val="1F2937"/>
                </a:solidFill>
                <a:latin typeface="Arial"/>
                <a:cs typeface="Arial"/>
              </a:rPr>
              <a:t>keep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the codebase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maintainable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2090653" y="1817369"/>
            <a:ext cx="5061585" cy="5061585"/>
            <a:chOff x="12090653" y="1817369"/>
            <a:chExt cx="5061585" cy="5061585"/>
          </a:xfrm>
        </p:grpSpPr>
        <p:sp>
          <p:nvSpPr>
            <p:cNvPr id="48" name="object 48"/>
            <p:cNvSpPr/>
            <p:nvPr/>
          </p:nvSpPr>
          <p:spPr>
            <a:xfrm>
              <a:off x="12113513" y="1840229"/>
              <a:ext cx="5015865" cy="5015865"/>
            </a:xfrm>
            <a:custGeom>
              <a:avLst/>
              <a:gdLst/>
              <a:ahLst/>
              <a:cxnLst/>
              <a:rect l="l" t="t" r="r" b="b"/>
              <a:pathLst>
                <a:path w="5015865" h="5015865">
                  <a:moveTo>
                    <a:pt x="4946618" y="5015483"/>
                  </a:moveTo>
                  <a:lnTo>
                    <a:pt x="68865" y="5015483"/>
                  </a:lnTo>
                  <a:lnTo>
                    <a:pt x="42098" y="5010081"/>
                  </a:lnTo>
                  <a:lnTo>
                    <a:pt x="20198" y="4995338"/>
                  </a:lnTo>
                  <a:lnTo>
                    <a:pt x="5429" y="4973451"/>
                  </a:lnTo>
                  <a:lnTo>
                    <a:pt x="0" y="4946618"/>
                  </a:lnTo>
                  <a:lnTo>
                    <a:pt x="0" y="68865"/>
                  </a:lnTo>
                  <a:lnTo>
                    <a:pt x="5415" y="42072"/>
                  </a:lnTo>
                  <a:lnTo>
                    <a:pt x="20181" y="20181"/>
                  </a:lnTo>
                  <a:lnTo>
                    <a:pt x="42072" y="5415"/>
                  </a:lnTo>
                  <a:lnTo>
                    <a:pt x="68865" y="0"/>
                  </a:lnTo>
                  <a:lnTo>
                    <a:pt x="4946618" y="0"/>
                  </a:lnTo>
                  <a:lnTo>
                    <a:pt x="4973451" y="5415"/>
                  </a:lnTo>
                  <a:lnTo>
                    <a:pt x="4995338" y="20181"/>
                  </a:lnTo>
                  <a:lnTo>
                    <a:pt x="5010081" y="42072"/>
                  </a:lnTo>
                  <a:lnTo>
                    <a:pt x="5015483" y="68865"/>
                  </a:lnTo>
                  <a:lnTo>
                    <a:pt x="5015483" y="4946618"/>
                  </a:lnTo>
                  <a:lnTo>
                    <a:pt x="5010068" y="4973451"/>
                  </a:lnTo>
                  <a:lnTo>
                    <a:pt x="4995302" y="4995338"/>
                  </a:lnTo>
                  <a:lnTo>
                    <a:pt x="4973411" y="5010081"/>
                  </a:lnTo>
                  <a:lnTo>
                    <a:pt x="4946618" y="5015483"/>
                  </a:lnTo>
                  <a:close/>
                </a:path>
              </a:pathLst>
            </a:custGeom>
            <a:solidFill>
              <a:srgbClr val="F2ED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2113513" y="1840229"/>
              <a:ext cx="5015865" cy="5015865"/>
            </a:xfrm>
            <a:custGeom>
              <a:avLst/>
              <a:gdLst/>
              <a:ahLst/>
              <a:cxnLst/>
              <a:rect l="l" t="t" r="r" b="b"/>
              <a:pathLst>
                <a:path w="5015865" h="5015865">
                  <a:moveTo>
                    <a:pt x="0" y="68864"/>
                  </a:moveTo>
                  <a:lnTo>
                    <a:pt x="5416" y="42071"/>
                  </a:lnTo>
                  <a:lnTo>
                    <a:pt x="20180" y="20181"/>
                  </a:lnTo>
                  <a:lnTo>
                    <a:pt x="42071" y="5416"/>
                  </a:lnTo>
                  <a:lnTo>
                    <a:pt x="68863" y="0"/>
                  </a:lnTo>
                  <a:lnTo>
                    <a:pt x="4946494" y="0"/>
                  </a:lnTo>
                  <a:lnTo>
                    <a:pt x="4973366" y="5358"/>
                  </a:lnTo>
                  <a:lnTo>
                    <a:pt x="4995299" y="20122"/>
                  </a:lnTo>
                  <a:lnTo>
                    <a:pt x="5010049" y="42007"/>
                  </a:lnTo>
                  <a:lnTo>
                    <a:pt x="5015483" y="68863"/>
                  </a:lnTo>
                  <a:lnTo>
                    <a:pt x="5015358" y="4946618"/>
                  </a:lnTo>
                  <a:lnTo>
                    <a:pt x="4995177" y="4995213"/>
                  </a:lnTo>
                  <a:lnTo>
                    <a:pt x="4946612" y="5015459"/>
                  </a:lnTo>
                  <a:lnTo>
                    <a:pt x="68839" y="5015478"/>
                  </a:lnTo>
                  <a:lnTo>
                    <a:pt x="41987" y="5010006"/>
                  </a:lnTo>
                  <a:lnTo>
                    <a:pt x="20107" y="4995203"/>
                  </a:lnTo>
                  <a:lnTo>
                    <a:pt x="5344" y="4973325"/>
                  </a:lnTo>
                  <a:lnTo>
                    <a:pt x="0" y="4946494"/>
                  </a:lnTo>
                  <a:lnTo>
                    <a:pt x="0" y="68864"/>
                  </a:lnTo>
                </a:path>
              </a:pathLst>
            </a:custGeom>
            <a:ln w="45719">
              <a:solidFill>
                <a:srgbClr val="531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2919070" y="2292730"/>
            <a:ext cx="3404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317A7"/>
                </a:solidFill>
                <a:latin typeface="Arial"/>
                <a:cs typeface="Arial"/>
              </a:rPr>
              <a:t>SECURITY &amp; RESPONSIBLE </a:t>
            </a:r>
            <a:r>
              <a:rPr sz="1800" b="1" spc="-25" dirty="0">
                <a:solidFill>
                  <a:srgbClr val="5317A7"/>
                </a:solidFill>
                <a:latin typeface="Arial"/>
                <a:cs typeface="Arial"/>
              </a:rPr>
              <a:t>AI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2480411" y="3057518"/>
            <a:ext cx="466725" cy="466725"/>
            <a:chOff x="12480411" y="3057518"/>
            <a:chExt cx="466725" cy="466725"/>
          </a:xfrm>
        </p:grpSpPr>
        <p:sp>
          <p:nvSpPr>
            <p:cNvPr id="52" name="object 52"/>
            <p:cNvSpPr/>
            <p:nvPr/>
          </p:nvSpPr>
          <p:spPr>
            <a:xfrm>
              <a:off x="12499467" y="3076575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29" h="430529">
                  <a:moveTo>
                    <a:pt x="215264" y="430529"/>
                  </a:moveTo>
                  <a:lnTo>
                    <a:pt x="165911" y="424843"/>
                  </a:lnTo>
                  <a:lnTo>
                    <a:pt x="120603" y="408647"/>
                  </a:lnTo>
                  <a:lnTo>
                    <a:pt x="80634" y="383233"/>
                  </a:lnTo>
                  <a:lnTo>
                    <a:pt x="47296" y="349895"/>
                  </a:lnTo>
                  <a:lnTo>
                    <a:pt x="21882" y="309926"/>
                  </a:lnTo>
                  <a:lnTo>
                    <a:pt x="5686" y="264618"/>
                  </a:lnTo>
                  <a:lnTo>
                    <a:pt x="0" y="215264"/>
                  </a:lnTo>
                  <a:lnTo>
                    <a:pt x="5686" y="165911"/>
                  </a:lnTo>
                  <a:lnTo>
                    <a:pt x="21882" y="120603"/>
                  </a:lnTo>
                  <a:lnTo>
                    <a:pt x="47296" y="80634"/>
                  </a:lnTo>
                  <a:lnTo>
                    <a:pt x="80634" y="47296"/>
                  </a:lnTo>
                  <a:lnTo>
                    <a:pt x="120603" y="21882"/>
                  </a:lnTo>
                  <a:lnTo>
                    <a:pt x="165911" y="5686"/>
                  </a:lnTo>
                  <a:lnTo>
                    <a:pt x="215264" y="0"/>
                  </a:lnTo>
                  <a:lnTo>
                    <a:pt x="264618" y="5686"/>
                  </a:lnTo>
                  <a:lnTo>
                    <a:pt x="309926" y="21882"/>
                  </a:lnTo>
                  <a:lnTo>
                    <a:pt x="349895" y="47296"/>
                  </a:lnTo>
                  <a:lnTo>
                    <a:pt x="383233" y="80634"/>
                  </a:lnTo>
                  <a:lnTo>
                    <a:pt x="408647" y="120603"/>
                  </a:lnTo>
                  <a:lnTo>
                    <a:pt x="424843" y="165911"/>
                  </a:lnTo>
                  <a:lnTo>
                    <a:pt x="430529" y="215264"/>
                  </a:lnTo>
                  <a:lnTo>
                    <a:pt x="424843" y="264618"/>
                  </a:lnTo>
                  <a:lnTo>
                    <a:pt x="408647" y="309926"/>
                  </a:lnTo>
                  <a:lnTo>
                    <a:pt x="383233" y="349895"/>
                  </a:lnTo>
                  <a:lnTo>
                    <a:pt x="349895" y="383233"/>
                  </a:lnTo>
                  <a:lnTo>
                    <a:pt x="309926" y="408647"/>
                  </a:lnTo>
                  <a:lnTo>
                    <a:pt x="264618" y="424843"/>
                  </a:lnTo>
                  <a:lnTo>
                    <a:pt x="215264" y="430529"/>
                  </a:lnTo>
                  <a:close/>
                </a:path>
              </a:pathLst>
            </a:custGeom>
            <a:solidFill>
              <a:srgbClr val="531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26291" y="3303686"/>
              <a:ext cx="201941" cy="206062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2499461" y="3076568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198744" y="428557"/>
                  </a:moveTo>
                  <a:lnTo>
                    <a:pt x="120534" y="408606"/>
                  </a:lnTo>
                  <a:lnTo>
                    <a:pt x="80576" y="383176"/>
                  </a:lnTo>
                  <a:lnTo>
                    <a:pt x="47254" y="349827"/>
                  </a:lnTo>
                  <a:lnTo>
                    <a:pt x="21860" y="309855"/>
                  </a:lnTo>
                  <a:lnTo>
                    <a:pt x="5684" y="264552"/>
                  </a:lnTo>
                  <a:lnTo>
                    <a:pt x="0" y="215211"/>
                  </a:lnTo>
                  <a:lnTo>
                    <a:pt x="5706" y="165878"/>
                  </a:lnTo>
                  <a:lnTo>
                    <a:pt x="21902" y="120589"/>
                  </a:lnTo>
                  <a:lnTo>
                    <a:pt x="47306" y="80636"/>
                  </a:lnTo>
                  <a:lnTo>
                    <a:pt x="80630" y="47309"/>
                  </a:lnTo>
                  <a:lnTo>
                    <a:pt x="120582" y="21899"/>
                  </a:lnTo>
                  <a:lnTo>
                    <a:pt x="165872" y="5698"/>
                  </a:lnTo>
                  <a:lnTo>
                    <a:pt x="215212" y="0"/>
                  </a:lnTo>
                  <a:lnTo>
                    <a:pt x="264559" y="5669"/>
                  </a:lnTo>
                  <a:lnTo>
                    <a:pt x="309868" y="21848"/>
                  </a:lnTo>
                  <a:lnTo>
                    <a:pt x="349846" y="47247"/>
                  </a:lnTo>
                  <a:lnTo>
                    <a:pt x="383199" y="80577"/>
                  </a:lnTo>
                  <a:lnTo>
                    <a:pt x="408630" y="120544"/>
                  </a:lnTo>
                  <a:lnTo>
                    <a:pt x="424843" y="165859"/>
                  </a:lnTo>
                  <a:lnTo>
                    <a:pt x="428557" y="198745"/>
                  </a:lnTo>
                </a:path>
              </a:pathLst>
            </a:custGeom>
            <a:ln w="38100">
              <a:solidFill>
                <a:srgbClr val="531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2662234" y="3121786"/>
            <a:ext cx="10541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1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3099795" y="2980055"/>
            <a:ext cx="351917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Move IBM API keys from scripts </a:t>
            </a:r>
            <a:r>
              <a:rPr sz="1800" spc="-25" dirty="0">
                <a:solidFill>
                  <a:srgbClr val="1F2937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environment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variables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2480411" y="4182229"/>
            <a:ext cx="466725" cy="466725"/>
            <a:chOff x="12480411" y="4182229"/>
            <a:chExt cx="466725" cy="466725"/>
          </a:xfrm>
        </p:grpSpPr>
        <p:sp>
          <p:nvSpPr>
            <p:cNvPr id="58" name="object 58"/>
            <p:cNvSpPr/>
            <p:nvPr/>
          </p:nvSpPr>
          <p:spPr>
            <a:xfrm>
              <a:off x="12499467" y="4201287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29" h="430529">
                  <a:moveTo>
                    <a:pt x="215264" y="430529"/>
                  </a:moveTo>
                  <a:lnTo>
                    <a:pt x="165911" y="424843"/>
                  </a:lnTo>
                  <a:lnTo>
                    <a:pt x="120603" y="408647"/>
                  </a:lnTo>
                  <a:lnTo>
                    <a:pt x="80634" y="383233"/>
                  </a:lnTo>
                  <a:lnTo>
                    <a:pt x="47296" y="349895"/>
                  </a:lnTo>
                  <a:lnTo>
                    <a:pt x="21882" y="309926"/>
                  </a:lnTo>
                  <a:lnTo>
                    <a:pt x="5686" y="264618"/>
                  </a:lnTo>
                  <a:lnTo>
                    <a:pt x="0" y="215264"/>
                  </a:lnTo>
                  <a:lnTo>
                    <a:pt x="5686" y="165911"/>
                  </a:lnTo>
                  <a:lnTo>
                    <a:pt x="21882" y="120603"/>
                  </a:lnTo>
                  <a:lnTo>
                    <a:pt x="47296" y="80634"/>
                  </a:lnTo>
                  <a:lnTo>
                    <a:pt x="80634" y="47296"/>
                  </a:lnTo>
                  <a:lnTo>
                    <a:pt x="120603" y="21882"/>
                  </a:lnTo>
                  <a:lnTo>
                    <a:pt x="165911" y="5686"/>
                  </a:lnTo>
                  <a:lnTo>
                    <a:pt x="215264" y="0"/>
                  </a:lnTo>
                  <a:lnTo>
                    <a:pt x="264618" y="5686"/>
                  </a:lnTo>
                  <a:lnTo>
                    <a:pt x="309926" y="21882"/>
                  </a:lnTo>
                  <a:lnTo>
                    <a:pt x="349895" y="47296"/>
                  </a:lnTo>
                  <a:lnTo>
                    <a:pt x="383233" y="80634"/>
                  </a:lnTo>
                  <a:lnTo>
                    <a:pt x="408647" y="120603"/>
                  </a:lnTo>
                  <a:lnTo>
                    <a:pt x="424843" y="165911"/>
                  </a:lnTo>
                  <a:lnTo>
                    <a:pt x="430529" y="215264"/>
                  </a:lnTo>
                  <a:lnTo>
                    <a:pt x="424843" y="264618"/>
                  </a:lnTo>
                  <a:lnTo>
                    <a:pt x="408647" y="309926"/>
                  </a:lnTo>
                  <a:lnTo>
                    <a:pt x="383233" y="349895"/>
                  </a:lnTo>
                  <a:lnTo>
                    <a:pt x="349895" y="383233"/>
                  </a:lnTo>
                  <a:lnTo>
                    <a:pt x="309926" y="408647"/>
                  </a:lnTo>
                  <a:lnTo>
                    <a:pt x="264618" y="424843"/>
                  </a:lnTo>
                  <a:lnTo>
                    <a:pt x="215264" y="430529"/>
                  </a:lnTo>
                  <a:close/>
                </a:path>
              </a:pathLst>
            </a:custGeom>
            <a:solidFill>
              <a:srgbClr val="531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26291" y="4428398"/>
              <a:ext cx="201941" cy="206062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2499461" y="4201279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198744" y="428557"/>
                  </a:moveTo>
                  <a:lnTo>
                    <a:pt x="120534" y="408606"/>
                  </a:lnTo>
                  <a:lnTo>
                    <a:pt x="80576" y="383176"/>
                  </a:lnTo>
                  <a:lnTo>
                    <a:pt x="47254" y="349827"/>
                  </a:lnTo>
                  <a:lnTo>
                    <a:pt x="21860" y="309855"/>
                  </a:lnTo>
                  <a:lnTo>
                    <a:pt x="5684" y="264552"/>
                  </a:lnTo>
                  <a:lnTo>
                    <a:pt x="0" y="215211"/>
                  </a:lnTo>
                  <a:lnTo>
                    <a:pt x="5706" y="165878"/>
                  </a:lnTo>
                  <a:lnTo>
                    <a:pt x="21902" y="120589"/>
                  </a:lnTo>
                  <a:lnTo>
                    <a:pt x="47306" y="80636"/>
                  </a:lnTo>
                  <a:lnTo>
                    <a:pt x="80630" y="47309"/>
                  </a:lnTo>
                  <a:lnTo>
                    <a:pt x="120582" y="21899"/>
                  </a:lnTo>
                  <a:lnTo>
                    <a:pt x="165872" y="5698"/>
                  </a:lnTo>
                  <a:lnTo>
                    <a:pt x="215212" y="0"/>
                  </a:lnTo>
                  <a:lnTo>
                    <a:pt x="264559" y="5669"/>
                  </a:lnTo>
                  <a:lnTo>
                    <a:pt x="309868" y="21848"/>
                  </a:lnTo>
                  <a:lnTo>
                    <a:pt x="349846" y="47247"/>
                  </a:lnTo>
                  <a:lnTo>
                    <a:pt x="383199" y="80577"/>
                  </a:lnTo>
                  <a:lnTo>
                    <a:pt x="408630" y="120544"/>
                  </a:lnTo>
                  <a:lnTo>
                    <a:pt x="424843" y="165859"/>
                  </a:lnTo>
                  <a:lnTo>
                    <a:pt x="428557" y="198745"/>
                  </a:lnTo>
                </a:path>
              </a:pathLst>
            </a:custGeom>
            <a:ln w="38100">
              <a:solidFill>
                <a:srgbClr val="531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12662234" y="4246498"/>
            <a:ext cx="10541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3099795" y="3971416"/>
            <a:ext cx="283400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Validated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inputs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(N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4</a:t>
            </a:r>
            <a:r>
              <a:rPr sz="1800" spc="-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to </a:t>
            </a:r>
            <a:r>
              <a:rPr sz="1800" spc="-25" dirty="0">
                <a:solidFill>
                  <a:srgbClr val="1F2937"/>
                </a:solidFill>
                <a:latin typeface="Arial"/>
                <a:cs typeface="Arial"/>
              </a:rPr>
              <a:t>32,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100"/>
              </a:lnSpc>
              <a:spcBef>
                <a:spcPts val="90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capacity 5 to 40) and </a:t>
            </a:r>
            <a:r>
              <a:rPr sz="1800" spc="-20" dirty="0">
                <a:solidFill>
                  <a:srgbClr val="1F2937"/>
                </a:solidFill>
                <a:latin typeface="Arial"/>
                <a:cs typeface="Arial"/>
              </a:rPr>
              <a:t>CSRF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middleware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2480411" y="5306941"/>
            <a:ext cx="466725" cy="466725"/>
            <a:chOff x="12480411" y="5306941"/>
            <a:chExt cx="466725" cy="466725"/>
          </a:xfrm>
        </p:grpSpPr>
        <p:sp>
          <p:nvSpPr>
            <p:cNvPr id="64" name="object 64"/>
            <p:cNvSpPr/>
            <p:nvPr/>
          </p:nvSpPr>
          <p:spPr>
            <a:xfrm>
              <a:off x="12499467" y="5325998"/>
              <a:ext cx="430530" cy="430530"/>
            </a:xfrm>
            <a:custGeom>
              <a:avLst/>
              <a:gdLst/>
              <a:ahLst/>
              <a:cxnLst/>
              <a:rect l="l" t="t" r="r" b="b"/>
              <a:pathLst>
                <a:path w="430529" h="430529">
                  <a:moveTo>
                    <a:pt x="215264" y="430529"/>
                  </a:moveTo>
                  <a:lnTo>
                    <a:pt x="165911" y="424843"/>
                  </a:lnTo>
                  <a:lnTo>
                    <a:pt x="120603" y="408647"/>
                  </a:lnTo>
                  <a:lnTo>
                    <a:pt x="80634" y="383233"/>
                  </a:lnTo>
                  <a:lnTo>
                    <a:pt x="47296" y="349895"/>
                  </a:lnTo>
                  <a:lnTo>
                    <a:pt x="21882" y="309926"/>
                  </a:lnTo>
                  <a:lnTo>
                    <a:pt x="5686" y="264618"/>
                  </a:lnTo>
                  <a:lnTo>
                    <a:pt x="0" y="215264"/>
                  </a:lnTo>
                  <a:lnTo>
                    <a:pt x="5686" y="165911"/>
                  </a:lnTo>
                  <a:lnTo>
                    <a:pt x="21882" y="120603"/>
                  </a:lnTo>
                  <a:lnTo>
                    <a:pt x="47296" y="80634"/>
                  </a:lnTo>
                  <a:lnTo>
                    <a:pt x="80634" y="47296"/>
                  </a:lnTo>
                  <a:lnTo>
                    <a:pt x="120603" y="21882"/>
                  </a:lnTo>
                  <a:lnTo>
                    <a:pt x="165911" y="5686"/>
                  </a:lnTo>
                  <a:lnTo>
                    <a:pt x="215264" y="0"/>
                  </a:lnTo>
                  <a:lnTo>
                    <a:pt x="264618" y="5686"/>
                  </a:lnTo>
                  <a:lnTo>
                    <a:pt x="309926" y="21882"/>
                  </a:lnTo>
                  <a:lnTo>
                    <a:pt x="349895" y="47296"/>
                  </a:lnTo>
                  <a:lnTo>
                    <a:pt x="383233" y="80634"/>
                  </a:lnTo>
                  <a:lnTo>
                    <a:pt x="408647" y="120603"/>
                  </a:lnTo>
                  <a:lnTo>
                    <a:pt x="424843" y="165911"/>
                  </a:lnTo>
                  <a:lnTo>
                    <a:pt x="430529" y="215264"/>
                  </a:lnTo>
                  <a:lnTo>
                    <a:pt x="424843" y="264618"/>
                  </a:lnTo>
                  <a:lnTo>
                    <a:pt x="408647" y="309926"/>
                  </a:lnTo>
                  <a:lnTo>
                    <a:pt x="383233" y="349895"/>
                  </a:lnTo>
                  <a:lnTo>
                    <a:pt x="349895" y="383233"/>
                  </a:lnTo>
                  <a:lnTo>
                    <a:pt x="309926" y="408647"/>
                  </a:lnTo>
                  <a:lnTo>
                    <a:pt x="264618" y="424843"/>
                  </a:lnTo>
                  <a:lnTo>
                    <a:pt x="215264" y="430529"/>
                  </a:lnTo>
                  <a:close/>
                </a:path>
              </a:pathLst>
            </a:custGeom>
            <a:solidFill>
              <a:srgbClr val="531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26291" y="5553110"/>
              <a:ext cx="201941" cy="206062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2499461" y="5325991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198744" y="428557"/>
                  </a:moveTo>
                  <a:lnTo>
                    <a:pt x="120534" y="408606"/>
                  </a:lnTo>
                  <a:lnTo>
                    <a:pt x="80576" y="383176"/>
                  </a:lnTo>
                  <a:lnTo>
                    <a:pt x="47254" y="349827"/>
                  </a:lnTo>
                  <a:lnTo>
                    <a:pt x="21860" y="309855"/>
                  </a:lnTo>
                  <a:lnTo>
                    <a:pt x="5684" y="264552"/>
                  </a:lnTo>
                  <a:lnTo>
                    <a:pt x="0" y="215211"/>
                  </a:lnTo>
                  <a:lnTo>
                    <a:pt x="5706" y="165878"/>
                  </a:lnTo>
                  <a:lnTo>
                    <a:pt x="21902" y="120589"/>
                  </a:lnTo>
                  <a:lnTo>
                    <a:pt x="47306" y="80636"/>
                  </a:lnTo>
                  <a:lnTo>
                    <a:pt x="80630" y="47309"/>
                  </a:lnTo>
                  <a:lnTo>
                    <a:pt x="120582" y="21899"/>
                  </a:lnTo>
                  <a:lnTo>
                    <a:pt x="165872" y="5698"/>
                  </a:lnTo>
                  <a:lnTo>
                    <a:pt x="215212" y="0"/>
                  </a:lnTo>
                  <a:lnTo>
                    <a:pt x="264559" y="5669"/>
                  </a:lnTo>
                  <a:lnTo>
                    <a:pt x="309868" y="21848"/>
                  </a:lnTo>
                  <a:lnTo>
                    <a:pt x="349846" y="47247"/>
                  </a:lnTo>
                  <a:lnTo>
                    <a:pt x="383199" y="80577"/>
                  </a:lnTo>
                  <a:lnTo>
                    <a:pt x="408630" y="120544"/>
                  </a:lnTo>
                  <a:lnTo>
                    <a:pt x="424843" y="165859"/>
                  </a:lnTo>
                  <a:lnTo>
                    <a:pt x="428557" y="198745"/>
                  </a:lnTo>
                </a:path>
              </a:pathLst>
            </a:custGeom>
            <a:ln w="38100">
              <a:solidFill>
                <a:srgbClr val="5317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12662234" y="5371210"/>
            <a:ext cx="10541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1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3099795" y="5229478"/>
            <a:ext cx="3215005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Clear</a:t>
            </a:r>
            <a:r>
              <a:rPr sz="18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labels</a:t>
            </a:r>
            <a:r>
              <a:rPr sz="18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separate</a:t>
            </a:r>
            <a:r>
              <a:rPr sz="1800" spc="-35" dirty="0">
                <a:solidFill>
                  <a:srgbClr val="1F2937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quantum-</a:t>
            </a:r>
            <a:r>
              <a:rPr sz="1800" dirty="0">
                <a:solidFill>
                  <a:srgbClr val="1F2937"/>
                </a:solidFill>
                <a:latin typeface="Arial"/>
                <a:cs typeface="Arial"/>
              </a:rPr>
              <a:t>inspired from real QPU </a:t>
            </a:r>
            <a:r>
              <a:rPr sz="1800" spc="-10" dirty="0">
                <a:solidFill>
                  <a:srgbClr val="1F2937"/>
                </a:solidFill>
                <a:latin typeface="Arial"/>
                <a:cs typeface="Arial"/>
              </a:rPr>
              <a:t>results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874223" y="7186041"/>
            <a:ext cx="16268700" cy="989965"/>
            <a:chOff x="874223" y="7186041"/>
            <a:chExt cx="16268700" cy="989965"/>
          </a:xfrm>
        </p:grpSpPr>
        <p:sp>
          <p:nvSpPr>
            <p:cNvPr id="70" name="object 70"/>
            <p:cNvSpPr/>
            <p:nvPr/>
          </p:nvSpPr>
          <p:spPr>
            <a:xfrm>
              <a:off x="893273" y="7205091"/>
              <a:ext cx="16233775" cy="951865"/>
            </a:xfrm>
            <a:custGeom>
              <a:avLst/>
              <a:gdLst/>
              <a:ahLst/>
              <a:cxnLst/>
              <a:rect l="l" t="t" r="r" b="b"/>
              <a:pathLst>
                <a:path w="16233775" h="951865">
                  <a:moveTo>
                    <a:pt x="16149446" y="951737"/>
                  </a:moveTo>
                  <a:lnTo>
                    <a:pt x="84010" y="951737"/>
                  </a:lnTo>
                  <a:lnTo>
                    <a:pt x="51314" y="945134"/>
                  </a:lnTo>
                  <a:lnTo>
                    <a:pt x="24610" y="927127"/>
                  </a:lnTo>
                  <a:lnTo>
                    <a:pt x="6603" y="900423"/>
                  </a:lnTo>
                  <a:lnTo>
                    <a:pt x="0" y="867727"/>
                  </a:lnTo>
                  <a:lnTo>
                    <a:pt x="0" y="84010"/>
                  </a:lnTo>
                  <a:lnTo>
                    <a:pt x="6603" y="51314"/>
                  </a:lnTo>
                  <a:lnTo>
                    <a:pt x="24610" y="24610"/>
                  </a:lnTo>
                  <a:lnTo>
                    <a:pt x="51314" y="6603"/>
                  </a:lnTo>
                  <a:lnTo>
                    <a:pt x="84010" y="0"/>
                  </a:lnTo>
                  <a:lnTo>
                    <a:pt x="16149446" y="0"/>
                  </a:lnTo>
                  <a:lnTo>
                    <a:pt x="16182143" y="6603"/>
                  </a:lnTo>
                  <a:lnTo>
                    <a:pt x="16208846" y="24610"/>
                  </a:lnTo>
                  <a:lnTo>
                    <a:pt x="16226852" y="51314"/>
                  </a:lnTo>
                  <a:lnTo>
                    <a:pt x="16233455" y="84010"/>
                  </a:lnTo>
                  <a:lnTo>
                    <a:pt x="16233455" y="867727"/>
                  </a:lnTo>
                  <a:lnTo>
                    <a:pt x="16226852" y="900423"/>
                  </a:lnTo>
                  <a:lnTo>
                    <a:pt x="16208846" y="927127"/>
                  </a:lnTo>
                  <a:lnTo>
                    <a:pt x="16182143" y="945134"/>
                  </a:lnTo>
                  <a:lnTo>
                    <a:pt x="16149446" y="951737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94370" y="7205091"/>
              <a:ext cx="16229965" cy="951865"/>
            </a:xfrm>
            <a:custGeom>
              <a:avLst/>
              <a:gdLst/>
              <a:ahLst/>
              <a:cxnLst/>
              <a:rect l="l" t="t" r="r" b="b"/>
              <a:pathLst>
                <a:path w="16229965" h="951865">
                  <a:moveTo>
                    <a:pt x="16229501" y="876135"/>
                  </a:moveTo>
                  <a:lnTo>
                    <a:pt x="16224621" y="900299"/>
                  </a:lnTo>
                  <a:lnTo>
                    <a:pt x="16206616" y="927000"/>
                  </a:lnTo>
                  <a:lnTo>
                    <a:pt x="16179915" y="945004"/>
                  </a:lnTo>
                  <a:lnTo>
                    <a:pt x="16147222" y="951606"/>
                  </a:lnTo>
                  <a:lnTo>
                    <a:pt x="83998" y="951606"/>
                  </a:lnTo>
                  <a:lnTo>
                    <a:pt x="24606" y="927000"/>
                  </a:lnTo>
                  <a:lnTo>
                    <a:pt x="0" y="867607"/>
                  </a:lnTo>
                  <a:lnTo>
                    <a:pt x="0" y="83998"/>
                  </a:lnTo>
                  <a:lnTo>
                    <a:pt x="6602" y="51307"/>
                  </a:lnTo>
                  <a:lnTo>
                    <a:pt x="24606" y="24606"/>
                  </a:lnTo>
                  <a:lnTo>
                    <a:pt x="51307" y="6602"/>
                  </a:lnTo>
                  <a:lnTo>
                    <a:pt x="83998" y="0"/>
                  </a:lnTo>
                  <a:lnTo>
                    <a:pt x="16147222" y="0"/>
                  </a:lnTo>
                  <a:lnTo>
                    <a:pt x="16179915" y="6602"/>
                  </a:lnTo>
                  <a:lnTo>
                    <a:pt x="16206616" y="24606"/>
                  </a:lnTo>
                  <a:lnTo>
                    <a:pt x="16224621" y="51307"/>
                  </a:lnTo>
                  <a:lnTo>
                    <a:pt x="16229500" y="75471"/>
                  </a:lnTo>
                </a:path>
              </a:pathLst>
            </a:custGeom>
            <a:ln w="38099">
              <a:solidFill>
                <a:srgbClr val="DBE4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93273" y="7205091"/>
              <a:ext cx="137795" cy="951865"/>
            </a:xfrm>
            <a:custGeom>
              <a:avLst/>
              <a:gdLst/>
              <a:ahLst/>
              <a:cxnLst/>
              <a:rect l="l" t="t" r="r" b="b"/>
              <a:pathLst>
                <a:path w="137794" h="951865">
                  <a:moveTo>
                    <a:pt x="137179" y="951679"/>
                  </a:moveTo>
                  <a:lnTo>
                    <a:pt x="0" y="951679"/>
                  </a:lnTo>
                  <a:lnTo>
                    <a:pt x="0" y="0"/>
                  </a:lnTo>
                  <a:lnTo>
                    <a:pt x="137179" y="0"/>
                  </a:lnTo>
                  <a:lnTo>
                    <a:pt x="137179" y="951679"/>
                  </a:lnTo>
                  <a:close/>
                </a:path>
              </a:pathLst>
            </a:custGeom>
            <a:solidFill>
              <a:srgbClr val="62A7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93273" y="7205401"/>
              <a:ext cx="133350" cy="951230"/>
            </a:xfrm>
            <a:custGeom>
              <a:avLst/>
              <a:gdLst/>
              <a:ahLst/>
              <a:cxnLst/>
              <a:rect l="l" t="t" r="r" b="b"/>
              <a:pathLst>
                <a:path w="133350" h="951229">
                  <a:moveTo>
                    <a:pt x="133350" y="950986"/>
                  </a:moveTo>
                  <a:lnTo>
                    <a:pt x="0" y="950986"/>
                  </a:lnTo>
                  <a:lnTo>
                    <a:pt x="0" y="0"/>
                  </a:lnTo>
                  <a:lnTo>
                    <a:pt x="133350" y="0"/>
                  </a:lnTo>
                </a:path>
              </a:pathLst>
            </a:custGeom>
            <a:ln w="38100">
              <a:solidFill>
                <a:srgbClr val="62A7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1125408" y="7504567"/>
            <a:ext cx="1803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90" dirty="0">
                <a:solidFill>
                  <a:srgbClr val="62A745"/>
                </a:solidFill>
                <a:latin typeface="Arial"/>
                <a:cs typeface="Arial"/>
              </a:rPr>
              <a:t>WHAT</a:t>
            </a:r>
            <a:r>
              <a:rPr sz="1800" b="1" spc="280" dirty="0">
                <a:solidFill>
                  <a:srgbClr val="62A745"/>
                </a:solidFill>
                <a:latin typeface="Arial"/>
                <a:cs typeface="Arial"/>
              </a:rPr>
              <a:t> </a:t>
            </a:r>
            <a:r>
              <a:rPr sz="1800" b="1" spc="60" dirty="0">
                <a:solidFill>
                  <a:srgbClr val="62A745"/>
                </a:solidFill>
                <a:latin typeface="Arial"/>
                <a:cs typeface="Arial"/>
              </a:rPr>
              <a:t>TO</a:t>
            </a:r>
            <a:r>
              <a:rPr sz="1800" b="1" spc="285" dirty="0">
                <a:solidFill>
                  <a:srgbClr val="62A745"/>
                </a:solidFill>
                <a:latin typeface="Arial"/>
                <a:cs typeface="Arial"/>
              </a:rPr>
              <a:t> </a:t>
            </a:r>
            <a:r>
              <a:rPr sz="1800" b="1" spc="60" dirty="0">
                <a:solidFill>
                  <a:srgbClr val="62A745"/>
                </a:solidFill>
                <a:latin typeface="Arial"/>
                <a:cs typeface="Arial"/>
              </a:rPr>
              <a:t>SAY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3218221" y="7523226"/>
            <a:ext cx="66675" cy="333375"/>
            <a:chOff x="3218221" y="7523226"/>
            <a:chExt cx="66675" cy="333375"/>
          </a:xfrm>
        </p:grpSpPr>
        <p:pic>
          <p:nvPicPr>
            <p:cNvPr id="76" name="object 7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18221" y="7523226"/>
              <a:ext cx="66675" cy="66674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18221" y="7789926"/>
              <a:ext cx="66675" cy="66674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3407331" y="7386701"/>
            <a:ext cx="12655550" cy="566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Priority: the custom Knapsack builder as one realistic enhancement; key safeguard: keep IBM API keys out of source </a:t>
            </a:r>
            <a:r>
              <a:rPr sz="1800" spc="-10" dirty="0">
                <a:solidFill>
                  <a:srgbClr val="111726"/>
                </a:solidFill>
                <a:latin typeface="Arial"/>
                <a:cs typeface="Arial"/>
              </a:rPr>
              <a:t>control. </a:t>
            </a:r>
            <a:r>
              <a:rPr sz="1800" dirty="0">
                <a:solidFill>
                  <a:srgbClr val="111726"/>
                </a:solidFill>
                <a:latin typeface="Arial"/>
                <a:cs typeface="Arial"/>
              </a:rPr>
              <a:t>Working now: C++ engines, D-Wave Neal, Worker mode and QAOA scripts; planned: the left column and </a:t>
            </a:r>
            <a:r>
              <a:rPr sz="1800" spc="-10" dirty="0">
                <a:solidFill>
                  <a:srgbClr val="111726"/>
                </a:solidFill>
                <a:latin typeface="Arial"/>
                <a:cs typeface="Arial"/>
              </a:rPr>
              <a:t>WebAssembly.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9" name="object 7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085"/>
              </a:lnSpc>
            </a:pPr>
            <a:r>
              <a:rPr dirty="0"/>
              <a:t>© 2026 Infosys Limited. All rights </a:t>
            </a:r>
            <a:r>
              <a:rPr spc="-10" dirty="0"/>
              <a:t>reserved.</a:t>
            </a:r>
          </a:p>
        </p:txBody>
      </p:sp>
      <p:sp>
        <p:nvSpPr>
          <p:cNvPr id="80" name="object 8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01137" y="274034"/>
            <a:ext cx="12785345" cy="72071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r>
              <a:rPr sz="1800" b="1" u="sng" spc="-20" dirty="0">
                <a:solidFill>
                  <a:srgbClr val="000000"/>
                </a:solidFill>
                <a:latin typeface="Arial"/>
                <a:cs typeface="Arial"/>
              </a:rPr>
              <a:t>DEMO</a:t>
            </a:r>
            <a:endParaRPr sz="1800" b="1" u="sng" dirty="0">
              <a:latin typeface="Arial"/>
              <a:cs typeface="Arial"/>
            </a:endParaRPr>
          </a:p>
          <a:p>
            <a:pPr marL="12065" marR="5080" algn="ctr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Live Arena: N-Queens &amp; Knapsack (Annealing) + Sudoku 'No Free Lunch' </a:t>
            </a:r>
            <a:r>
              <a:rPr sz="1800" spc="-10" dirty="0">
                <a:solidFill>
                  <a:srgbClr val="000000"/>
                </a:solidFill>
                <a:latin typeface="Arial"/>
                <a:cs typeface="Arial"/>
              </a:rPr>
              <a:t>Benchmark 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(QAOA</a:t>
            </a:r>
            <a:r>
              <a:rPr sz="180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+</a:t>
            </a:r>
            <a:r>
              <a:rPr sz="180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Qualcomm</a:t>
            </a:r>
            <a:r>
              <a:rPr sz="180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0000"/>
                </a:solidFill>
                <a:latin typeface="Arial"/>
                <a:cs typeface="Arial"/>
              </a:rPr>
              <a:t>AI</a:t>
            </a:r>
            <a:r>
              <a:rPr sz="180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0000"/>
                </a:solidFill>
                <a:latin typeface="Arial"/>
                <a:cs typeface="Arial"/>
              </a:rPr>
              <a:t>Referee)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085"/>
              </a:lnSpc>
            </a:pPr>
            <a:r>
              <a:rPr dirty="0"/>
              <a:t>© 2026 Infosys Limited. All rights </a:t>
            </a:r>
            <a:r>
              <a:rPr spc="-10" dirty="0"/>
              <a:t>reserved.</a:t>
            </a:r>
          </a:p>
        </p:txBody>
      </p:sp>
      <p:pic>
        <p:nvPicPr>
          <p:cNvPr id="4" name="WhatsApp Video 2026-10-14 at 7.53.13 PM">
            <a:hlinkClick r:id="" action="ppaction://media"/>
            <a:extLst>
              <a:ext uri="{FF2B5EF4-FFF2-40B4-BE49-F238E27FC236}">
                <a16:creationId xmlns:a16="http://schemas.microsoft.com/office/drawing/2014/main" id="{1AF2C457-EEB1-D531-1431-B8834673162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12938" y="1219200"/>
            <a:ext cx="15384462" cy="7429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1152</Words>
  <Application>Microsoft Office PowerPoint</Application>
  <PresentationFormat>Custom</PresentationFormat>
  <Paragraphs>124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Qubit Arena</vt:lpstr>
      <vt:lpstr>Team Introduction</vt:lpstr>
      <vt:lpstr>Problem Statement</vt:lpstr>
      <vt:lpstr>Proposed Solution</vt:lpstr>
      <vt:lpstr>Architecture &amp; Technical Design Three tiers: browser UI, local solver API and IBM Quantum cloud.</vt:lpstr>
      <vt:lpstr>AI Usage &amp; Innovation Optimization-driven AI, benchmarked against exact baselines rather than added for show.</vt:lpstr>
      <vt:lpstr>Future Enhancements, Scalability &amp; Security Credible next steps, with what works today kept separate from what is planned.</vt:lpstr>
      <vt:lpstr>DEMO Live Arena: N-Queens &amp; Knapsack (Annealing) + Sudoku 'No Free Lunch' Benchmark (QAOA + Qualcomm AI Referee)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Qubit_Arena_HackAIThon (1).pptx</dc:title>
  <dc:creator>Shweta Garg</dc:creator>
  <cp:keywords>DAHX-dAeS0k,BAGgRhESb4Y</cp:keywords>
  <cp:lastModifiedBy>Sanskar srivastava</cp:lastModifiedBy>
  <cp:revision>1</cp:revision>
  <dcterms:created xsi:type="dcterms:W3CDTF">2026-10-14T14:31:34Z</dcterms:created>
  <dcterms:modified xsi:type="dcterms:W3CDTF">2026-10-14T14:35:00Z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2026-10-14T00:00:00Z</vt:filetime>
  </property>
  <property fmtid="{D5CDD505-2E9C-101B-9397-08002B2CF9AE}" pid="3" name="Creator">
    <vt:lpwstr>Canva</vt:lpwstr>
  </property>
  <property fmtid="{D5CDD505-2E9C-101B-9397-08002B2CF9AE}" pid="4" name="LastSaved">
    <vt:filetime>2026-10-14T00:00:00Z</vt:filetime>
  </property>
  <property fmtid="{D5CDD505-2E9C-101B-9397-08002B2CF9AE}" pid="5" name="Producer">
    <vt:lpwstr>Canva</vt:lpwstr>
  </property>
</Properties>
</file>